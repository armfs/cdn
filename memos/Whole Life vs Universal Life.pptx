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Libre Franklin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Domine"/>
      <p:regular r:id="rId30"/>
      <p:bold r:id="rId31"/>
    </p:embeddedFont>
    <p:embeddedFont>
      <p:font typeface="Century Schoolbook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ibreFranklin-regular.fntdata"/><Relationship Id="rId21" Type="http://schemas.openxmlformats.org/officeDocument/2006/relationships/slide" Target="slides/slide16.xml"/><Relationship Id="rId24" Type="http://schemas.openxmlformats.org/officeDocument/2006/relationships/font" Target="fonts/LibreFranklin-italic.fntdata"/><Relationship Id="rId23" Type="http://schemas.openxmlformats.org/officeDocument/2006/relationships/font" Target="fonts/LibreFranklin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LibreFranklin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omine-bold.fntdata"/><Relationship Id="rId30" Type="http://schemas.openxmlformats.org/officeDocument/2006/relationships/font" Target="fonts/Domine-regular.fntdata"/><Relationship Id="rId11" Type="http://schemas.openxmlformats.org/officeDocument/2006/relationships/slide" Target="slides/slide6.xml"/><Relationship Id="rId33" Type="http://schemas.openxmlformats.org/officeDocument/2006/relationships/font" Target="fonts/CenturySchoolbook-bold.fntdata"/><Relationship Id="rId10" Type="http://schemas.openxmlformats.org/officeDocument/2006/relationships/slide" Target="slides/slide5.xml"/><Relationship Id="rId32" Type="http://schemas.openxmlformats.org/officeDocument/2006/relationships/font" Target="fonts/CenturySchoolbook-regular.fntdata"/><Relationship Id="rId13" Type="http://schemas.openxmlformats.org/officeDocument/2006/relationships/slide" Target="slides/slide8.xml"/><Relationship Id="rId35" Type="http://schemas.openxmlformats.org/officeDocument/2006/relationships/font" Target="fonts/CenturySchoolbook-boldItalic.fntdata"/><Relationship Id="rId12" Type="http://schemas.openxmlformats.org/officeDocument/2006/relationships/slide" Target="slides/slide7.xml"/><Relationship Id="rId34" Type="http://schemas.openxmlformats.org/officeDocument/2006/relationships/font" Target="fonts/CenturySchoolbook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7f7f1e72c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7f7f1e72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7f7f1e72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7f7f1e72c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7f7f1e72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c7f7f1e72c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7f7f1e72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c7f7f1e72c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hyperlink" Target="http://b.sc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11" Type="http://schemas.openxmlformats.org/officeDocument/2006/relationships/image" Target="../media/image5.png"/><Relationship Id="rId10" Type="http://schemas.openxmlformats.org/officeDocument/2006/relationships/image" Target="../media/image3.png"/><Relationship Id="rId12" Type="http://schemas.openxmlformats.org/officeDocument/2006/relationships/image" Target="../media/image21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9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11" Type="http://schemas.openxmlformats.org/officeDocument/2006/relationships/image" Target="../media/image10.png"/><Relationship Id="rId10" Type="http://schemas.openxmlformats.org/officeDocument/2006/relationships/image" Target="../media/image17.png"/><Relationship Id="rId12" Type="http://schemas.openxmlformats.org/officeDocument/2006/relationships/image" Target="../media/image30.png"/><Relationship Id="rId9" Type="http://schemas.openxmlformats.org/officeDocument/2006/relationships/image" Target="../media/image33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2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796" y="-201225"/>
            <a:ext cx="12321452" cy="725251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268800" y="-117225"/>
            <a:ext cx="145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B365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BS”D</a:t>
            </a:r>
            <a:endParaRPr sz="1800">
              <a:solidFill>
                <a:srgbClr val="1B365D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56350" y="1411625"/>
            <a:ext cx="6275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0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rPr>
              <a:t>Whole Life vs.</a:t>
            </a:r>
            <a:br>
              <a:rPr b="1" lang="en-US" sz="580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rPr>
            </a:br>
            <a:r>
              <a:rPr b="1" lang="en-US" sz="580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rPr>
              <a:t>Universal Life </a:t>
            </a:r>
            <a:endParaRPr b="1" sz="5800">
              <a:solidFill>
                <a:schemeClr val="lt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56350" y="3289325"/>
            <a:ext cx="67785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Selecting the Right Structure for Estate Funding</a:t>
            </a:r>
            <a:endParaRPr sz="23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8" name="Google Shape;88;p13"/>
          <p:cNvCxnSpPr/>
          <p:nvPr/>
        </p:nvCxnSpPr>
        <p:spPr>
          <a:xfrm>
            <a:off x="656350" y="5236900"/>
            <a:ext cx="602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3"/>
          <p:cNvSpPr txBox="1"/>
          <p:nvPr/>
        </p:nvSpPr>
        <p:spPr>
          <a:xfrm>
            <a:off x="568671" y="5254566"/>
            <a:ext cx="6778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rPr>
              <a:t>David Kakon, Math Honours </a:t>
            </a:r>
            <a:r>
              <a:rPr b="1" lang="en-US" sz="2500">
                <a:solidFill>
                  <a:schemeClr val="lt1"/>
                </a:solidFill>
                <a:uFill>
                  <a:noFill/>
                </a:uFill>
                <a:latin typeface="Domine"/>
                <a:ea typeface="Domine"/>
                <a:cs typeface="Domine"/>
                <a:sym typeface="Domin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B.Sc</a:t>
            </a:r>
            <a:r>
              <a:rPr b="1" lang="en-US" sz="250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br>
              <a:rPr lang="en-US" sz="250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rPr>
            </a:br>
            <a:r>
              <a:rPr lang="en-US" sz="250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rPr>
              <a:t>Armstrong Financial Services</a:t>
            </a:r>
            <a:br>
              <a:rPr lang="en-US" sz="250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rPr>
            </a:br>
            <a:r>
              <a:rPr lang="en-US" sz="250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rPr>
              <a:t>March 2026</a:t>
            </a:r>
            <a:endParaRPr sz="2500">
              <a:solidFill>
                <a:schemeClr val="lt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930625" y="6908025"/>
            <a:ext cx="6778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5238750" cy="4705350"/>
          </a:xfrm>
          <a:prstGeom prst="rect">
            <a:avLst/>
          </a:prstGeom>
          <a:noFill/>
          <a:ln>
            <a:noFill/>
          </a:ln>
          <a:effectLst>
            <a:outerShdw blurRad="242888" rotWithShape="0" algn="bl" dir="8700000" dist="161925">
              <a:srgbClr val="000000">
                <a:alpha val="6000"/>
              </a:srgbClr>
            </a:outerShdw>
          </a:effectLst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81150"/>
            <a:ext cx="5238750" cy="4705350"/>
          </a:xfrm>
          <a:prstGeom prst="rect">
            <a:avLst/>
          </a:prstGeom>
          <a:noFill/>
          <a:ln>
            <a:noFill/>
          </a:ln>
          <a:effectLst>
            <a:outerShdw blurRad="242888" rotWithShape="0" algn="bl" dir="8700000" dist="161925">
              <a:srgbClr val="000000">
                <a:alpha val="6000"/>
              </a:srgbClr>
            </a:outerShdw>
          </a:effectLst>
        </p:spPr>
      </p:pic>
      <p:sp>
        <p:nvSpPr>
          <p:cNvPr id="98" name="Google Shape;98;p14"/>
          <p:cNvSpPr txBox="1"/>
          <p:nvPr/>
        </p:nvSpPr>
        <p:spPr>
          <a:xfrm>
            <a:off x="1000125" y="2781301"/>
            <a:ext cx="465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The Objective</a:t>
            </a:r>
            <a:endParaRPr b="1" sz="2600"/>
          </a:p>
        </p:txBody>
      </p:sp>
      <p:sp>
        <p:nvSpPr>
          <p:cNvPr id="99" name="Google Shape;99;p14"/>
          <p:cNvSpPr txBox="1"/>
          <p:nvPr/>
        </p:nvSpPr>
        <p:spPr>
          <a:xfrm>
            <a:off x="976275" y="3419476"/>
            <a:ext cx="4429200" cy="16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 corporate owners, the primary role of permanent insurance is to fund a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defined future tax liability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with tax-free liquidity at the precise moment it is crystallized.</a:t>
            </a:r>
            <a:endParaRPr sz="1800"/>
          </a:p>
        </p:txBody>
      </p:sp>
      <p:sp>
        <p:nvSpPr>
          <p:cNvPr id="100" name="Google Shape;100;p14"/>
          <p:cNvSpPr txBox="1"/>
          <p:nvPr/>
        </p:nvSpPr>
        <p:spPr>
          <a:xfrm>
            <a:off x="6810375" y="2781300"/>
            <a:ext cx="465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The Choice</a:t>
            </a:r>
            <a:endParaRPr b="1" sz="2600"/>
          </a:p>
        </p:txBody>
      </p:sp>
      <p:sp>
        <p:nvSpPr>
          <p:cNvPr id="101" name="Google Shape;101;p14"/>
          <p:cNvSpPr txBox="1"/>
          <p:nvPr/>
        </p:nvSpPr>
        <p:spPr>
          <a:xfrm>
            <a:off x="6810375" y="3419475"/>
            <a:ext cx="46506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When the goal is a specific liability amount, the choice between Participating Whole Life and Universal Life is not about "better" or "worse" products, but rather a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structural decision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about efficiency, risk, and capital allocation.</a:t>
            </a:r>
            <a:endParaRPr sz="1800"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Executive Summary</a:t>
            </a:r>
            <a:endParaRPr b="1"/>
          </a:p>
        </p:txBody>
      </p:sp>
      <p:sp>
        <p:nvSpPr>
          <p:cNvPr id="103" name="Google Shape;103;p14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3492549" cy="4705350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8700000" dist="123825">
              <a:srgbClr val="000000">
                <a:alpha val="5000"/>
              </a:srgbClr>
            </a:outerShdw>
          </a:effectLst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581150"/>
            <a:ext cx="3492549" cy="4705350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8700000" dist="123825">
              <a:srgbClr val="000000">
                <a:alpha val="5000"/>
              </a:srgbClr>
            </a:outerShdw>
          </a:effectLst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581150"/>
            <a:ext cx="3492549" cy="4705350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8700000" dist="123825">
              <a:srgbClr val="000000">
                <a:alpha val="5000"/>
              </a:srgbClr>
            </a:outerShdw>
          </a:effectLst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89075" y="19240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587609" y="3019425"/>
            <a:ext cx="146018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Fixed Base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14400" y="3657600"/>
            <a:ext cx="28068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Built around a fixed premium and a base death benefit. Any value beyond this relies entirely on non-guaranteed performance.</a:t>
            </a:r>
            <a:endParaRPr sz="1600"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19240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4905851" y="3019425"/>
            <a:ext cx="238029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Dividend Growth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92699" y="3657600"/>
            <a:ext cx="28068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Dividends are used to purchase Paid-Up Additions (PUA). The death benefit growth is dependent on the insurer's dividend scale.</a:t>
            </a:r>
            <a:endParaRPr sz="1600"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5674" y="19240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729156" y="3019425"/>
            <a:ext cx="229028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The "Yield" Myth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70999" y="3657600"/>
            <a:ext cx="28068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Dividend Scale Interest Rate (DSIR) is </a:t>
            </a:r>
            <a:r>
              <a:rPr b="0" i="1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policy yield. It is just one component in a complex formula blending mortality, expenses, and taxes.</a:t>
            </a:r>
            <a:endParaRPr sz="1600"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46250" y="212407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67400" y="21240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45699" y="21240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Participating Whole Life: The Mechanics</a:t>
            </a:r>
            <a:endParaRPr b="1"/>
          </a:p>
        </p:txBody>
      </p:sp>
      <p:sp>
        <p:nvSpPr>
          <p:cNvPr id="125" name="Google Shape;125;p15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1104900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2092700"/>
            <a:ext cx="54186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Because Whole Life relies on growth to hit targets, matching a fixed liability forces a difficult choice:</a:t>
            </a:r>
            <a:endParaRPr sz="1600"/>
          </a:p>
        </p:txBody>
      </p:sp>
      <p:sp>
        <p:nvSpPr>
          <p:cNvPr id="133" name="Google Shape;133;p16"/>
          <p:cNvSpPr txBox="1"/>
          <p:nvPr/>
        </p:nvSpPr>
        <p:spPr>
          <a:xfrm>
            <a:off x="650313" y="3062578"/>
            <a:ext cx="11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8533" y="3050809"/>
            <a:ext cx="52215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Option A: Shortfall Risk.</a:t>
            </a:r>
            <a:r>
              <a:rPr b="0" i="0" lang="en-US" sz="17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Set base coverage below the liability and hope dividends catch up. This leaves the estate under-insured for decades.</a:t>
            </a:r>
            <a:endParaRPr sz="1600"/>
          </a:p>
        </p:txBody>
      </p:sp>
      <p:sp>
        <p:nvSpPr>
          <p:cNvPr id="135" name="Google Shape;135;p16"/>
          <p:cNvSpPr txBox="1"/>
          <p:nvPr/>
        </p:nvSpPr>
        <p:spPr>
          <a:xfrm>
            <a:off x="650313" y="4332627"/>
            <a:ext cx="11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8533" y="4335075"/>
            <a:ext cx="5221500" cy="1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Option B: Excess Cost.</a:t>
            </a:r>
            <a:r>
              <a:rPr b="0" i="0" lang="en-US" sz="17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Buy the full liability upfront. The policy continues to grow, forcing you to pay for "excess" coverage you don't need, diverting capital from your business.</a:t>
            </a:r>
            <a:endParaRPr sz="1600"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Paid Up Dividends: </a:t>
            </a: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The Structural Trade-off</a:t>
            </a:r>
            <a:endParaRPr b="1"/>
          </a:p>
        </p:txBody>
      </p:sp>
      <p:sp>
        <p:nvSpPr>
          <p:cNvPr id="138" name="Google Shape;138;p16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762000"/>
            <a:ext cx="5200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Level Universal Life</a:t>
            </a:r>
            <a:endParaRPr b="1"/>
          </a:p>
        </p:txBody>
      </p:sp>
      <p:sp>
        <p:nvSpPr>
          <p:cNvPr id="146" name="Google Shape;146;p17"/>
          <p:cNvSpPr/>
          <p:nvPr/>
        </p:nvSpPr>
        <p:spPr>
          <a:xfrm>
            <a:off x="571500" y="1362075"/>
            <a:ext cx="4953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2009775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Designed for Precision</a:t>
            </a:r>
            <a:endParaRPr b="1"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2483200"/>
            <a:ext cx="50583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Level Universal Life is structurally designed to match a fixed estate liability with a contractually fixed death benefit from inception.</a:t>
            </a:r>
            <a:endParaRPr sz="1800"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3922645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Efficiency Over Growth</a:t>
            </a:r>
            <a:endParaRPr b="1"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4419600"/>
            <a:ext cx="5271600" cy="16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Unlike Whole Life, which uses returns to increase coverage, Level UL applies tax-free growth internally to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reduce future insurance costs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This minimizes the corporate capital required to maintain the policy.</a:t>
            </a:r>
            <a:endParaRPr sz="1800"/>
          </a:p>
        </p:txBody>
      </p:sp>
      <p:pic>
        <p:nvPicPr>
          <p:cNvPr id="151" name="Google Shape;151;p17" title="plan-of-building-architectural-project-background-P2CGCM8.jpg"/>
          <p:cNvPicPr preferRelativeResize="0"/>
          <p:nvPr/>
        </p:nvPicPr>
        <p:blipFill rotWithShape="1">
          <a:blip r:embed="rId5">
            <a:alphaModFix/>
          </a:blip>
          <a:srcRect b="920" l="35859" r="-14223" t="-920"/>
          <a:stretch/>
        </p:blipFill>
        <p:spPr>
          <a:xfrm>
            <a:off x="6437275" y="-70625"/>
            <a:ext cx="8063299" cy="692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3492549" cy="4019550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8700000" dist="123825">
              <a:srgbClr val="000000">
                <a:alpha val="5000"/>
              </a:srgbClr>
            </a:outerShdw>
          </a:effectLst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66950"/>
            <a:ext cx="3492549" cy="4019550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8700000" dist="123825">
              <a:srgbClr val="000000">
                <a:alpha val="5000"/>
              </a:srgbClr>
            </a:outerShdw>
          </a:effectLst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66950"/>
            <a:ext cx="3492549" cy="4019550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8700000" dist="123825">
              <a:srgbClr val="000000">
                <a:alpha val="5000"/>
              </a:srgbClr>
            </a:outerShdw>
          </a:effectLst>
        </p:spPr>
      </p:pic>
      <p:sp>
        <p:nvSpPr>
          <p:cNvPr id="160" name="Google Shape;160;p18"/>
          <p:cNvSpPr txBox="1"/>
          <p:nvPr/>
        </p:nvSpPr>
        <p:spPr>
          <a:xfrm>
            <a:off x="571500" y="161805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resolve the "GIC vs. Equity" dilemma using Institutional Smoothed-Yield Accounts.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89075" y="26098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1092547" y="3705225"/>
            <a:ext cx="245030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Capital Protection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14400" y="4343400"/>
            <a:ext cx="2806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Features a 0% floor, guaranteeing that the credited rate will never be negative, protecting your downside.</a:t>
            </a:r>
            <a:endParaRPr sz="1500"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6098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530929" y="3705225"/>
            <a:ext cx="113014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Stability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637050" y="4343400"/>
            <a:ext cx="29157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Typically illustrates between 3.5% and 4.1%, trading with near-zero volatility (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SD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~0.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%) for predictable planning.</a:t>
            </a:r>
            <a:endParaRPr sz="1500"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5674" y="26098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529131" y="3705225"/>
            <a:ext cx="26903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Institutional Access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471000" y="4343400"/>
            <a:ext cx="29157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Access the same asset pool as Whole Life: Private fixed income, commercial mortgages, 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onds and real estate.</a:t>
            </a:r>
            <a:endParaRPr sz="1500"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89100" y="2809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0" y="28098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45699" y="28098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Funding</a:t>
            </a: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 Solution: Sun Life Diversified Account</a:t>
            </a:r>
            <a:endParaRPr b="1"/>
          </a:p>
        </p:txBody>
      </p:sp>
      <p:sp>
        <p:nvSpPr>
          <p:cNvPr id="174" name="Google Shape;174;p18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5238750" cy="3971925"/>
          </a:xfrm>
          <a:prstGeom prst="rect">
            <a:avLst/>
          </a:prstGeom>
          <a:noFill/>
          <a:ln>
            <a:noFill/>
          </a:ln>
          <a:effectLst>
            <a:outerShdw blurRad="242888" rotWithShape="0" algn="bl" dir="8700000" dist="161925">
              <a:srgbClr val="000000">
                <a:alpha val="6000"/>
              </a:srgbClr>
            </a:outerShdw>
          </a:effectLst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81150"/>
            <a:ext cx="5238750" cy="3971925"/>
          </a:xfrm>
          <a:prstGeom prst="rect">
            <a:avLst/>
          </a:prstGeom>
          <a:noFill/>
          <a:ln>
            <a:noFill/>
          </a:ln>
          <a:effectLst>
            <a:outerShdw blurRad="242888" rotWithShape="0" algn="bl" dir="8700000" dist="161925">
              <a:srgbClr val="000000">
                <a:alpha val="6000"/>
              </a:srgbClr>
            </a:outerShdw>
          </a:effectLst>
        </p:spPr>
      </p:pic>
      <p:sp>
        <p:nvSpPr>
          <p:cNvPr id="182" name="Google Shape;182;p19"/>
          <p:cNvSpPr txBox="1"/>
          <p:nvPr/>
        </p:nvSpPr>
        <p:spPr>
          <a:xfrm>
            <a:off x="571500" y="5992906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True efficiency is measured by what the shareholders keep, not the gross policy value.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000125" y="2566987"/>
            <a:ext cx="465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CDA Mechanics</a:t>
            </a:r>
            <a:endParaRPr b="1" sz="1900"/>
          </a:p>
        </p:txBody>
      </p:sp>
      <p:sp>
        <p:nvSpPr>
          <p:cNvPr id="184" name="Google Shape;184;p19"/>
          <p:cNvSpPr txBox="1"/>
          <p:nvPr/>
        </p:nvSpPr>
        <p:spPr>
          <a:xfrm>
            <a:off x="1000125" y="3205162"/>
            <a:ext cx="44292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Capital Dividend Account (CDA) credit is generally the Death Benefit minus the Adjusted Cost Basis (ACB). A higher ACB (common in Whole Life) means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less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of the benefit is tax-free.</a:t>
            </a:r>
            <a:endParaRPr sz="1800"/>
          </a:p>
        </p:txBody>
      </p:sp>
      <p:sp>
        <p:nvSpPr>
          <p:cNvPr id="185" name="Google Shape;185;p19"/>
          <p:cNvSpPr txBox="1"/>
          <p:nvPr/>
        </p:nvSpPr>
        <p:spPr>
          <a:xfrm>
            <a:off x="6810375" y="2566987"/>
            <a:ext cx="465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Share Valuation (CSV)</a:t>
            </a:r>
            <a:endParaRPr b="1" sz="2600"/>
          </a:p>
        </p:txBody>
      </p:sp>
      <p:sp>
        <p:nvSpPr>
          <p:cNvPr id="186" name="Google Shape;186;p19"/>
          <p:cNvSpPr txBox="1"/>
          <p:nvPr/>
        </p:nvSpPr>
        <p:spPr>
          <a:xfrm>
            <a:off x="6810375" y="3205162"/>
            <a:ext cx="44292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 death, the policy's Cash Surrender Value (CSV) increases the value of corporate shares. This can trigger additional capital gains tax, reducing the net amount the estate actually receives.</a:t>
            </a:r>
            <a:endParaRPr sz="1800"/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Corporate Reality: Net-to-Estate</a:t>
            </a:r>
            <a:endParaRPr b="1"/>
          </a:p>
        </p:txBody>
      </p:sp>
      <p:sp>
        <p:nvSpPr>
          <p:cNvPr id="188" name="Google Shape;188;p19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/>
          <p:nvPr/>
        </p:nvSpPr>
        <p:spPr>
          <a:xfrm>
            <a:off x="474700" y="3495079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21780" y="3980259"/>
            <a:ext cx="208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Benchmark</a:t>
            </a:r>
            <a:endParaRPr b="1" sz="1600"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4342209"/>
            <a:ext cx="19887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Define the specific required liability.</a:t>
            </a:r>
            <a:endParaRPr sz="1600"/>
          </a:p>
        </p:txBody>
      </p:sp>
      <p:sp>
        <p:nvSpPr>
          <p:cNvPr id="197" name="Google Shape;197;p20"/>
          <p:cNvSpPr txBox="1"/>
          <p:nvPr/>
        </p:nvSpPr>
        <p:spPr>
          <a:xfrm>
            <a:off x="2786795" y="3980259"/>
            <a:ext cx="208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Establish Cost</a:t>
            </a:r>
            <a:endParaRPr sz="1600"/>
          </a:p>
        </p:txBody>
      </p:sp>
      <p:sp>
        <p:nvSpPr>
          <p:cNvPr id="198" name="Google Shape;198;p20"/>
          <p:cNvSpPr txBox="1"/>
          <p:nvPr/>
        </p:nvSpPr>
        <p:spPr>
          <a:xfrm>
            <a:off x="2836515" y="4342209"/>
            <a:ext cx="19887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Solve for the UL premium to fully fund the liability.</a:t>
            </a:r>
            <a:endParaRPr sz="1600"/>
          </a:p>
        </p:txBody>
      </p:sp>
      <p:sp>
        <p:nvSpPr>
          <p:cNvPr id="199" name="Google Shape;199;p20"/>
          <p:cNvSpPr txBox="1"/>
          <p:nvPr/>
        </p:nvSpPr>
        <p:spPr>
          <a:xfrm>
            <a:off x="5051810" y="3980259"/>
            <a:ext cx="208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Remove Bias</a:t>
            </a:r>
            <a:endParaRPr sz="1600"/>
          </a:p>
        </p:txBody>
      </p:sp>
      <p:sp>
        <p:nvSpPr>
          <p:cNvPr id="200" name="Google Shape;200;p20"/>
          <p:cNvSpPr txBox="1"/>
          <p:nvPr/>
        </p:nvSpPr>
        <p:spPr>
          <a:xfrm>
            <a:off x="5101530" y="4342209"/>
            <a:ext cx="19887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Apply that premium to the best-fit Whole Life policy.</a:t>
            </a:r>
            <a:endParaRPr sz="1500"/>
          </a:p>
        </p:txBody>
      </p:sp>
      <p:sp>
        <p:nvSpPr>
          <p:cNvPr id="201" name="Google Shape;201;p20"/>
          <p:cNvSpPr txBox="1"/>
          <p:nvPr/>
        </p:nvSpPr>
        <p:spPr>
          <a:xfrm>
            <a:off x="7316825" y="3980259"/>
            <a:ext cx="208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Tax Adjust</a:t>
            </a:r>
            <a:endParaRPr sz="1600"/>
          </a:p>
        </p:txBody>
      </p:sp>
      <p:sp>
        <p:nvSpPr>
          <p:cNvPr id="202" name="Google Shape;202;p20"/>
          <p:cNvSpPr txBox="1"/>
          <p:nvPr/>
        </p:nvSpPr>
        <p:spPr>
          <a:xfrm>
            <a:off x="7366545" y="4342209"/>
            <a:ext cx="19887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Account for CDA and CSV capital gains</a:t>
            </a:r>
            <a:endParaRPr sz="1600"/>
          </a:p>
        </p:txBody>
      </p:sp>
      <p:sp>
        <p:nvSpPr>
          <p:cNvPr id="203" name="Google Shape;203;p20"/>
          <p:cNvSpPr txBox="1"/>
          <p:nvPr/>
        </p:nvSpPr>
        <p:spPr>
          <a:xfrm>
            <a:off x="9581841" y="3980259"/>
            <a:ext cx="208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Compare</a:t>
            </a:r>
            <a:endParaRPr sz="1600"/>
          </a:p>
        </p:txBody>
      </p:sp>
      <p:sp>
        <p:nvSpPr>
          <p:cNvPr id="204" name="Google Shape;204;p20"/>
          <p:cNvSpPr txBox="1"/>
          <p:nvPr/>
        </p:nvSpPr>
        <p:spPr>
          <a:xfrm>
            <a:off x="9631560" y="4342209"/>
            <a:ext cx="19887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Evaluate outcome </a:t>
            </a:r>
            <a:r>
              <a:rPr lang="en-US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through </a:t>
            </a:r>
            <a:r>
              <a:rPr lang="en-US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lifetime</a:t>
            </a:r>
            <a:r>
              <a:rPr lang="en-US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to LE.</a:t>
            </a:r>
            <a:endParaRPr sz="1600"/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Methodology: A Fair Comparison</a:t>
            </a:r>
            <a:endParaRPr b="1"/>
          </a:p>
        </p:txBody>
      </p:sp>
      <p:sp>
        <p:nvSpPr>
          <p:cNvPr id="206" name="Google Shape;206;p20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695" y="3276004"/>
            <a:ext cx="476250" cy="476250"/>
          </a:xfrm>
          <a:prstGeom prst="rect">
            <a:avLst/>
          </a:prstGeom>
          <a:noFill/>
          <a:ln>
            <a:noFill/>
          </a:ln>
          <a:effectLst>
            <a:outerShdw blurRad="385763" rotWithShape="0" algn="bl" dir="8700000" dist="161925">
              <a:srgbClr val="000000">
                <a:alpha val="20000"/>
              </a:srgbClr>
            </a:outerShdw>
          </a:effectLst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2710" y="3276004"/>
            <a:ext cx="476250" cy="476250"/>
          </a:xfrm>
          <a:prstGeom prst="rect">
            <a:avLst/>
          </a:prstGeom>
          <a:noFill/>
          <a:ln>
            <a:noFill/>
          </a:ln>
          <a:effectLst>
            <a:outerShdw blurRad="385763" rotWithShape="0" algn="bl" dir="8700000" dist="161925">
              <a:srgbClr val="000000">
                <a:alpha val="20000"/>
              </a:srgbClr>
            </a:outerShdw>
          </a:effectLst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726" y="3276004"/>
            <a:ext cx="476250" cy="476250"/>
          </a:xfrm>
          <a:prstGeom prst="rect">
            <a:avLst/>
          </a:prstGeom>
          <a:noFill/>
          <a:ln>
            <a:noFill/>
          </a:ln>
          <a:effectLst>
            <a:outerShdw blurRad="385763" rotWithShape="0" algn="bl" dir="8700000" dist="161925">
              <a:srgbClr val="000000">
                <a:alpha val="20000"/>
              </a:srgbClr>
            </a:outerShdw>
          </a:effectLst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2741" y="3276004"/>
            <a:ext cx="476250" cy="476250"/>
          </a:xfrm>
          <a:prstGeom prst="rect">
            <a:avLst/>
          </a:prstGeom>
          <a:noFill/>
          <a:ln>
            <a:noFill/>
          </a:ln>
          <a:effectLst>
            <a:outerShdw blurRad="385763" rotWithShape="0" algn="bl" dir="8700000" dist="161925">
              <a:srgbClr val="000000">
                <a:alpha val="20000"/>
              </a:srgbClr>
            </a:outerShdw>
          </a:effectLst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87756" y="3276004"/>
            <a:ext cx="476250" cy="476250"/>
          </a:xfrm>
          <a:prstGeom prst="rect">
            <a:avLst/>
          </a:prstGeom>
          <a:noFill/>
          <a:ln>
            <a:noFill/>
          </a:ln>
          <a:effectLst>
            <a:outerShdw blurRad="385763" rotWithShape="0" algn="bl" dir="8700000" dist="161925">
              <a:srgbClr val="000000">
                <a:alpha val="20000"/>
              </a:srgbClr>
            </a:outerShdw>
          </a:effectLst>
        </p:spPr>
      </p:pic>
      <p:sp>
        <p:nvSpPr>
          <p:cNvPr id="212" name="Google Shape;212;p20"/>
          <p:cNvSpPr txBox="1"/>
          <p:nvPr/>
        </p:nvSpPr>
        <p:spPr>
          <a:xfrm>
            <a:off x="571500" y="1862345"/>
            <a:ext cx="109524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meaningful comparison between Whole Life and Universal Life requires a tax-adjusted </a:t>
            </a:r>
            <a:r>
              <a:rPr b="1" lang="en-US" sz="17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Net-to-Estate</a:t>
            </a:r>
            <a:r>
              <a:rPr lang="en-US" sz="17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analysis using matched funding</a:t>
            </a:r>
            <a:r>
              <a:rPr lang="en-US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647700" y="26622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762000" y="2662237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Owner</a:t>
            </a: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CCPC Holding Inc. (Quebec).</a:t>
            </a:r>
            <a:endParaRPr sz="1700"/>
          </a:p>
        </p:txBody>
      </p:sp>
      <p:sp>
        <p:nvSpPr>
          <p:cNvPr id="220" name="Google Shape;220;p21"/>
          <p:cNvSpPr txBox="1"/>
          <p:nvPr/>
        </p:nvSpPr>
        <p:spPr>
          <a:xfrm>
            <a:off x="647700" y="31099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762000" y="3109912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Objective: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$10,000,000 Net-to-Estate Liquidity.</a:t>
            </a:r>
            <a:endParaRPr sz="1700"/>
          </a:p>
        </p:txBody>
      </p:sp>
      <p:sp>
        <p:nvSpPr>
          <p:cNvPr id="222" name="Google Shape;222;p21"/>
          <p:cNvSpPr txBox="1"/>
          <p:nvPr/>
        </p:nvSpPr>
        <p:spPr>
          <a:xfrm>
            <a:off x="647700" y="35575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62000" y="3557587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Funding: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10-Year Pay Schedule.</a:t>
            </a:r>
            <a:endParaRPr sz="1700"/>
          </a:p>
        </p:txBody>
      </p:sp>
      <p:sp>
        <p:nvSpPr>
          <p:cNvPr id="224" name="Google Shape;224;p21"/>
          <p:cNvSpPr txBox="1"/>
          <p:nvPr/>
        </p:nvSpPr>
        <p:spPr>
          <a:xfrm>
            <a:off x="647700" y="40052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762000" y="4005262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Timeline: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Life Expectancy (Age 85).</a:t>
            </a:r>
            <a:endParaRPr sz="1700"/>
          </a:p>
        </p:txBody>
      </p:sp>
      <p:sp>
        <p:nvSpPr>
          <p:cNvPr id="226" name="Google Shape;226;p21"/>
          <p:cNvSpPr txBox="1"/>
          <p:nvPr/>
        </p:nvSpPr>
        <p:spPr>
          <a:xfrm>
            <a:off x="647700" y="44529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62000" y="4452937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UL Assumption: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100% SLDA @ 3.95%.</a:t>
            </a:r>
            <a:endParaRPr sz="1700"/>
          </a:p>
        </p:txBody>
      </p:sp>
      <p:sp>
        <p:nvSpPr>
          <p:cNvPr id="228" name="Google Shape;228;p21"/>
          <p:cNvSpPr txBox="1"/>
          <p:nvPr/>
        </p:nvSpPr>
        <p:spPr>
          <a:xfrm>
            <a:off x="647700" y="49006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762000" y="4900600"/>
            <a:ext cx="556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WL Assumption: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Sun Par Protector @ 5.25% (-1%</a:t>
            </a:r>
            <a:r>
              <a:rPr lang="en-US" sz="18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700"/>
          </a:p>
        </p:txBody>
      </p:sp>
      <p:sp>
        <p:nvSpPr>
          <p:cNvPr id="230" name="Google Shape;230;p21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Case Study: The Parameters</a:t>
            </a:r>
            <a:endParaRPr b="1"/>
          </a:p>
        </p:txBody>
      </p:sp>
      <p:sp>
        <p:nvSpPr>
          <p:cNvPr id="231" name="Google Shape;231;p21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647700" y="221114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762000" y="2211145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Client: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55-year-old Male, Non-smoker.</a:t>
            </a:r>
            <a:endParaRPr sz="1700"/>
          </a:p>
        </p:txBody>
      </p:sp>
      <p:pic>
        <p:nvPicPr>
          <p:cNvPr id="234" name="Google Shape;234;p21" title="ARMFS 2026-04-20 at 7.08.27 PM-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6776" y="1599999"/>
            <a:ext cx="3775274" cy="4858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Case Study: </a:t>
            </a:r>
            <a:r>
              <a:rPr b="1" lang="en-US" sz="3150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Summary of Results</a:t>
            </a:r>
            <a:endParaRPr b="1"/>
          </a:p>
        </p:txBody>
      </p:sp>
      <p:sp>
        <p:nvSpPr>
          <p:cNvPr id="241" name="Google Shape;241;p22"/>
          <p:cNvSpPr/>
          <p:nvPr/>
        </p:nvSpPr>
        <p:spPr>
          <a:xfrm>
            <a:off x="571500" y="1171575"/>
            <a:ext cx="11049000" cy="28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655350" y="2729575"/>
            <a:ext cx="10881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first solve for a Universal Life design that provides level coverage from inception and for life, intended to precisely deliver the target Net-to-Estate outcome. The required annual premium derived from this becomes the fixed input for the comparison.</a:t>
            </a:r>
            <a:br>
              <a:rPr lang="en-US" sz="2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en-US" sz="2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results below reflect after-tax Net-to-Estate outcomes (accounting for CDA credits and taxes), rather than potentially misleading gross values. Both policies have identical premium inputs of ($341,768 × 10).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71500" y="1969125"/>
            <a:ext cx="1146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⇒ Net-to-Estate = CDA + [ (FV − CDA) × (1 − 48.70%) ] − [ CSV × 26.65%]</a:t>
            </a:r>
            <a:endParaRPr b="1" sz="3000">
              <a:solidFill>
                <a:srgbClr val="1B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3" title="ARMFS 2026-02-13 at 1.54.43 P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43957"/>
            <a:ext cx="11049001" cy="414335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8700000" dist="19050">
              <a:srgbClr val="000000">
                <a:alpha val="10000"/>
              </a:srgbClr>
            </a:outerShdw>
          </a:effectLst>
        </p:spPr>
      </p:pic>
      <p:sp>
        <p:nvSpPr>
          <p:cNvPr id="249" name="Google Shape;249;p23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Case Study: </a:t>
            </a:r>
            <a:r>
              <a:rPr b="1" lang="en-US" sz="3150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Universal Life (</a:t>
            </a:r>
            <a:r>
              <a:rPr b="1" lang="en-US" sz="3150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Level+ACB)</a:t>
            </a:r>
            <a:endParaRPr b="1"/>
          </a:p>
        </p:txBody>
      </p:sp>
      <p:sp>
        <p:nvSpPr>
          <p:cNvPr id="250" name="Google Shape;250;p23"/>
          <p:cNvSpPr/>
          <p:nvPr/>
        </p:nvSpPr>
        <p:spPr>
          <a:xfrm>
            <a:off x="571500" y="1171575"/>
            <a:ext cx="11049000" cy="28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Case Study: </a:t>
            </a:r>
            <a:r>
              <a:rPr b="1" lang="en-US" sz="3150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Whole Life Par</a:t>
            </a:r>
            <a:endParaRPr b="1"/>
          </a:p>
        </p:txBody>
      </p:sp>
      <p:sp>
        <p:nvSpPr>
          <p:cNvPr id="256" name="Google Shape;256;p24"/>
          <p:cNvSpPr/>
          <p:nvPr/>
        </p:nvSpPr>
        <p:spPr>
          <a:xfrm>
            <a:off x="571500" y="1171575"/>
            <a:ext cx="11049000" cy="28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4" title="ARMFS 2026-02-13 at 1.54.50 P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720492"/>
            <a:ext cx="11049001" cy="4154158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8700000" dist="1905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5"/>
          <p:cNvPicPr preferRelativeResize="0"/>
          <p:nvPr/>
        </p:nvPicPr>
        <p:blipFill rotWithShape="1">
          <a:blip r:embed="rId4">
            <a:alphaModFix/>
          </a:blip>
          <a:srcRect b="0" l="6716" r="0" t="0"/>
          <a:stretch/>
        </p:blipFill>
        <p:spPr>
          <a:xfrm>
            <a:off x="867203" y="1595375"/>
            <a:ext cx="10306899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571500" y="1959377"/>
            <a:ext cx="110490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With identical funding ($341,768/yr for 10 years), Universal Life meets the target.</a:t>
            </a:r>
            <a:br>
              <a:rPr lang="en-US" sz="19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9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Whole Life falls significantly short due to structural inefficiency.</a:t>
            </a:r>
            <a:endParaRPr sz="1800"/>
          </a:p>
        </p:txBody>
      </p:sp>
      <p:sp>
        <p:nvSpPr>
          <p:cNvPr id="265" name="Google Shape;265;p25"/>
          <p:cNvSpPr txBox="1"/>
          <p:nvPr/>
        </p:nvSpPr>
        <p:spPr>
          <a:xfrm>
            <a:off x="496150" y="4897635"/>
            <a:ext cx="1104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Shortfall: -$2,410,895</a:t>
            </a:r>
            <a:endParaRPr sz="1800"/>
          </a:p>
        </p:txBody>
      </p:sp>
      <p:sp>
        <p:nvSpPr>
          <p:cNvPr id="266" name="Google Shape;266;p2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Results: Net-to-Estate at Age 85</a:t>
            </a:r>
            <a:endParaRPr b="1"/>
          </a:p>
        </p:txBody>
      </p:sp>
      <p:sp>
        <p:nvSpPr>
          <p:cNvPr id="267" name="Google Shape;267;p25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4881"/>
            <a:ext cx="11049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/>
          <p:nvPr/>
        </p:nvSpPr>
        <p:spPr>
          <a:xfrm>
            <a:off x="2177542" y="6458376"/>
            <a:ext cx="190500" cy="381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2463292" y="6372651"/>
            <a:ext cx="2267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Universal Life </a:t>
            </a:r>
            <a:r>
              <a:rPr lang="en-US" sz="1350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@ 3.95%</a:t>
            </a:r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5168108" y="6458376"/>
            <a:ext cx="1905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5453858" y="6372651"/>
            <a:ext cx="2333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Whole Life </a:t>
            </a:r>
            <a:r>
              <a:rPr lang="en-US" sz="1350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@ 5.25%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8397367" y="6372651"/>
            <a:ext cx="21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$10M Liability Target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Lifetime Net-to-Estate Analysis</a:t>
            </a:r>
            <a:endParaRPr b="1"/>
          </a:p>
        </p:txBody>
      </p:sp>
      <p:sp>
        <p:nvSpPr>
          <p:cNvPr id="280" name="Google Shape;280;p26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88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571500" y="2091312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Domine"/>
                <a:ea typeface="Domine"/>
                <a:cs typeface="Domine"/>
                <a:sym typeface="Domine"/>
              </a:rPr>
              <a:t>Structure Matters</a:t>
            </a:r>
            <a:endParaRPr b="1" sz="17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571500" y="2700325"/>
            <a:ext cx="572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Using identical premiums, Universal Life outperforms Whole Life not only at life expectancy but throughout the entire policy duration.</a:t>
            </a:r>
            <a:endParaRPr sz="1800"/>
          </a:p>
        </p:txBody>
      </p:sp>
      <p:sp>
        <p:nvSpPr>
          <p:cNvPr id="289" name="Google Shape;289;p27"/>
          <p:cNvSpPr txBox="1"/>
          <p:nvPr/>
        </p:nvSpPr>
        <p:spPr>
          <a:xfrm>
            <a:off x="571500" y="3813608"/>
            <a:ext cx="5724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Universal Life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locks in full liability coverage from inception and directs performance to lowering costs.</a:t>
            </a:r>
            <a:endParaRPr sz="1800"/>
          </a:p>
        </p:txBody>
      </p:sp>
      <p:sp>
        <p:nvSpPr>
          <p:cNvPr id="290" name="Google Shape;290;p27"/>
          <p:cNvSpPr txBox="1"/>
          <p:nvPr/>
        </p:nvSpPr>
        <p:spPr>
          <a:xfrm>
            <a:off x="571500" y="4731400"/>
            <a:ext cx="62082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Whole Life </a:t>
            </a:r>
            <a:r>
              <a:rPr lang="en-US" sz="17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starts with a coverage gap and never catches up, leaving the estate underinsured by over $2.4M at the critical moment.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Conclusion</a:t>
            </a:r>
            <a:endParaRPr b="1"/>
          </a:p>
        </p:txBody>
      </p:sp>
      <p:sp>
        <p:nvSpPr>
          <p:cNvPr id="292" name="Google Shape;292;p27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e it clearer and ounchier" id="293" name="Google Shape;29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2869" y="1617937"/>
            <a:ext cx="3876401" cy="4739524"/>
          </a:xfrm>
          <a:prstGeom prst="rect">
            <a:avLst/>
          </a:prstGeom>
          <a:noFill/>
          <a:ln>
            <a:noFill/>
          </a:ln>
          <a:effectLst>
            <a:outerShdw blurRad="300038" rotWithShape="0" algn="bl" dir="8700000" dist="123825">
              <a:srgbClr val="000000">
                <a:alpha val="27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295125" y="3885964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B365D"/>
                </a:solidFill>
                <a:latin typeface="Domine"/>
                <a:ea typeface="Domine"/>
                <a:cs typeface="Domine"/>
                <a:sym typeface="Domine"/>
              </a:rPr>
              <a:t>Questions?</a:t>
            </a:r>
            <a:endParaRPr b="1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571350" y="5038489"/>
            <a:ext cx="1104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David Kakon, Math Honours B.Sc.</a:t>
            </a:r>
            <a:endParaRPr sz="1600"/>
          </a:p>
        </p:txBody>
      </p:sp>
      <p:sp>
        <p:nvSpPr>
          <p:cNvPr id="301" name="Google Shape;301;p28"/>
          <p:cNvSpPr txBox="1"/>
          <p:nvPr/>
        </p:nvSpPr>
        <p:spPr>
          <a:xfrm>
            <a:off x="571350" y="5476378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Armstrong Financial Services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571350" y="5989900"/>
            <a:ext cx="1104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David@ArmstrongLife.com | (</a:t>
            </a:r>
            <a:r>
              <a:rPr lang="en-US" sz="20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514</a:t>
            </a:r>
            <a:r>
              <a:rPr b="0" i="0" lang="en-US" sz="20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20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574-0233</a:t>
            </a:r>
            <a:endParaRPr sz="1900"/>
          </a:p>
        </p:txBody>
      </p:sp>
      <p:pic>
        <p:nvPicPr>
          <p:cNvPr id="303" name="Google Shape;303;p28" title="ARMFS 2026-04-20 at 6.24.50 PM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8600" y="598025"/>
            <a:ext cx="2194649" cy="293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