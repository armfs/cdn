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embeddedFontLst>
    <p:embeddedFont>
      <p:font typeface="Libre Franklin Light"/>
      <p:regular r:id="rId19"/>
      <p:bold r:id="rId20"/>
      <p:italic r:id="rId21"/>
      <p:boldItalic r:id="rId22"/>
    </p:embeddedFont>
    <p:embeddedFont>
      <p:font typeface="Domine SemiBold"/>
      <p:regular r:id="rId23"/>
      <p:bold r:id="rId24"/>
    </p:embeddedFont>
    <p:embeddedFont>
      <p:font typeface="Lato"/>
      <p:regular r:id="rId25"/>
      <p:bold r:id="rId26"/>
      <p:italic r:id="rId27"/>
      <p:boldItalic r:id="rId28"/>
    </p:embeddedFont>
    <p:embeddedFont>
      <p:font typeface="Domine"/>
      <p:regular r:id="rId29"/>
      <p:bold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ibreFranklinLight-bold.fntdata"/><Relationship Id="rId22" Type="http://schemas.openxmlformats.org/officeDocument/2006/relationships/font" Target="fonts/LibreFranklinLight-boldItalic.fntdata"/><Relationship Id="rId21" Type="http://schemas.openxmlformats.org/officeDocument/2006/relationships/font" Target="fonts/LibreFranklinLight-italic.fntdata"/><Relationship Id="rId24" Type="http://schemas.openxmlformats.org/officeDocument/2006/relationships/font" Target="fonts/DomineSemiBold-bold.fntdata"/><Relationship Id="rId23" Type="http://schemas.openxmlformats.org/officeDocument/2006/relationships/font" Target="fonts/DomineSemiBold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bold.fntdata"/><Relationship Id="rId25" Type="http://schemas.openxmlformats.org/officeDocument/2006/relationships/font" Target="fonts/Lato-regular.fntdata"/><Relationship Id="rId28" Type="http://schemas.openxmlformats.org/officeDocument/2006/relationships/font" Target="fonts/Lato-boldItalic.fntdata"/><Relationship Id="rId27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omine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Domine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LibreFranklinLight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7f7f1e72c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7f7f1e72c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11" Type="http://schemas.openxmlformats.org/officeDocument/2006/relationships/image" Target="../media/image1.png"/><Relationship Id="rId10" Type="http://schemas.openxmlformats.org/officeDocument/2006/relationships/image" Target="../media/image4.png"/><Relationship Id="rId12" Type="http://schemas.openxmlformats.org/officeDocument/2006/relationships/image" Target="../media/image2.png"/><Relationship Id="rId9" Type="http://schemas.openxmlformats.org/officeDocument/2006/relationships/image" Target="../media/image15.pn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3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30.png"/><Relationship Id="rId11" Type="http://schemas.openxmlformats.org/officeDocument/2006/relationships/image" Target="../media/image26.png"/><Relationship Id="rId10" Type="http://schemas.openxmlformats.org/officeDocument/2006/relationships/image" Target="../media/image14.png"/><Relationship Id="rId12" Type="http://schemas.openxmlformats.org/officeDocument/2006/relationships/image" Target="../media/image19.png"/><Relationship Id="rId9" Type="http://schemas.openxmlformats.org/officeDocument/2006/relationships/image" Target="../media/image11.png"/><Relationship Id="rId5" Type="http://schemas.openxmlformats.org/officeDocument/2006/relationships/image" Target="../media/image27.png"/><Relationship Id="rId6" Type="http://schemas.openxmlformats.org/officeDocument/2006/relationships/image" Target="../media/image13.png"/><Relationship Id="rId7" Type="http://schemas.openxmlformats.org/officeDocument/2006/relationships/image" Target="../media/image22.png"/><Relationship Id="rId8" Type="http://schemas.openxmlformats.org/officeDocument/2006/relationships/image" Target="../media/image2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image" Target="../media/image16.png"/><Relationship Id="rId6" Type="http://schemas.openxmlformats.org/officeDocument/2006/relationships/image" Target="../media/image25.png"/><Relationship Id="rId7" Type="http://schemas.openxmlformats.org/officeDocument/2006/relationships/image" Target="../media/image23.png"/><Relationship Id="rId8" Type="http://schemas.openxmlformats.org/officeDocument/2006/relationships/image" Target="../media/image3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31.png"/><Relationship Id="rId5" Type="http://schemas.openxmlformats.org/officeDocument/2006/relationships/image" Target="../media/image3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84" name="Google Shape;8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1429975" y="0"/>
            <a:ext cx="170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Libre Franklin Light"/>
                <a:ea typeface="Libre Franklin Light"/>
                <a:cs typeface="Libre Franklin Light"/>
                <a:sym typeface="Libre Franklin Light"/>
              </a:rPr>
              <a:t>BS”D</a:t>
            </a:r>
            <a:endParaRPr sz="1800">
              <a:solidFill>
                <a:schemeClr val="lt1"/>
              </a:solidFill>
              <a:latin typeface="Libre Franklin Light"/>
              <a:ea typeface="Libre Franklin Light"/>
              <a:cs typeface="Libre Franklin Light"/>
              <a:sym typeface="Libre Franklin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0" name="Google Shape;9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81150"/>
            <a:ext cx="5238750" cy="4705350"/>
          </a:xfrm>
          <a:prstGeom prst="rect">
            <a:avLst/>
          </a:prstGeom>
          <a:noFill/>
          <a:ln>
            <a:noFill/>
          </a:ln>
          <a:effectLst>
            <a:outerShdw blurRad="242888" rotWithShape="0" algn="bl" dir="8700000" dist="161925">
              <a:srgbClr val="000000">
                <a:alpha val="4000"/>
              </a:srgbClr>
            </a:outerShdw>
          </a:effectLst>
        </p:spPr>
      </p:pic>
      <p:pic>
        <p:nvPicPr>
          <p:cNvPr descr="image.png" id="92" name="Google Shape;9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581150"/>
            <a:ext cx="5238750" cy="4705350"/>
          </a:xfrm>
          <a:prstGeom prst="rect">
            <a:avLst/>
          </a:prstGeom>
          <a:noFill/>
          <a:ln>
            <a:noFill/>
          </a:ln>
          <a:effectLst>
            <a:outerShdw blurRad="242888" rotWithShape="0" algn="bl" dir="8700000" dist="161925">
              <a:srgbClr val="000000">
                <a:alpha val="4000"/>
              </a:srgbClr>
            </a:outerShdw>
          </a:effectLst>
        </p:spPr>
      </p:pic>
      <p:sp>
        <p:nvSpPr>
          <p:cNvPr id="93" name="Google Shape;93;p14"/>
          <p:cNvSpPr txBox="1"/>
          <p:nvPr/>
        </p:nvSpPr>
        <p:spPr>
          <a:xfrm>
            <a:off x="1000125" y="2933700"/>
            <a:ext cx="465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5A059"/>
                </a:solidFill>
                <a:latin typeface="Domine"/>
                <a:ea typeface="Domine"/>
                <a:cs typeface="Domine"/>
                <a:sym typeface="Domine"/>
              </a:rPr>
              <a:t>The Objective</a:t>
            </a:r>
            <a:endParaRPr b="1"/>
          </a:p>
        </p:txBody>
      </p:sp>
      <p:sp>
        <p:nvSpPr>
          <p:cNvPr id="94" name="Google Shape;94;p14"/>
          <p:cNvSpPr txBox="1"/>
          <p:nvPr/>
        </p:nvSpPr>
        <p:spPr>
          <a:xfrm>
            <a:off x="1000125" y="3571875"/>
            <a:ext cx="442912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For corporate owners, the primary role of permanent insurance is to fund a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defined future tax liability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with tax-free liquidity at the precise moment it is crystallized.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6810375" y="2781300"/>
            <a:ext cx="465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5A059"/>
                </a:solidFill>
                <a:latin typeface="Domine"/>
                <a:ea typeface="Domine"/>
                <a:cs typeface="Domine"/>
                <a:sym typeface="Domine"/>
              </a:rPr>
              <a:t>The Choice</a:t>
            </a:r>
            <a:endParaRPr b="1"/>
          </a:p>
        </p:txBody>
      </p:sp>
      <p:sp>
        <p:nvSpPr>
          <p:cNvPr id="96" name="Google Shape;96;p14"/>
          <p:cNvSpPr txBox="1"/>
          <p:nvPr/>
        </p:nvSpPr>
        <p:spPr>
          <a:xfrm>
            <a:off x="6810375" y="3419475"/>
            <a:ext cx="442912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When the goal is a specific liability amount, the choice between Participating Whole Life and Universal Life is not about "better" or "worse" products, but rather a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structural decision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about efficiency, risk, and capital allocation.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Executive Summary</a:t>
            </a:r>
            <a:endParaRPr b="1"/>
          </a:p>
        </p:txBody>
      </p:sp>
      <p:sp>
        <p:nvSpPr>
          <p:cNvPr id="98" name="Google Shape;98;p14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3" name="Google Shape;10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81150"/>
            <a:ext cx="3492549" cy="4705350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r="8700000" dist="123825">
              <a:srgbClr val="000000">
                <a:alpha val="5000"/>
              </a:srgbClr>
            </a:outerShdw>
          </a:effectLst>
        </p:spPr>
      </p:pic>
      <p:pic>
        <p:nvPicPr>
          <p:cNvPr descr="image.png" id="105" name="Google Shape;10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1581150"/>
            <a:ext cx="3492549" cy="4705350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r="8700000" dist="123825">
              <a:srgbClr val="000000">
                <a:alpha val="5000"/>
              </a:srgbClr>
            </a:outerShdw>
          </a:effectLst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1581150"/>
            <a:ext cx="3492549" cy="4705350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r="8700000" dist="123825">
              <a:srgbClr val="000000">
                <a:alpha val="5000"/>
              </a:srgbClr>
            </a:outerShdw>
          </a:effectLst>
        </p:spPr>
      </p:pic>
      <p:pic>
        <p:nvPicPr>
          <p:cNvPr descr="image.png" id="107" name="Google Shape;107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889075" y="1924050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1587609" y="3019425"/>
            <a:ext cx="1460182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Fixed Base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14400" y="3657600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Built around a fixed premium and a base death benefit. Any value beyond this relies entirely on non-guaranteed performance.</a:t>
            </a:r>
            <a:endParaRPr/>
          </a:p>
        </p:txBody>
      </p:sp>
      <p:pic>
        <p:nvPicPr>
          <p:cNvPr descr="image.png" id="110" name="Google Shape;11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667375" y="1924050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4905851" y="3019425"/>
            <a:ext cx="238029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Dividend Growth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692699" y="3657600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Dividends are used to purchase Paid-Up Additions (PUA). The death benefit growth is dependent on the insurer's dividend scale.</a:t>
            </a:r>
            <a:endParaRPr/>
          </a:p>
        </p:txBody>
      </p:sp>
      <p:pic>
        <p:nvPicPr>
          <p:cNvPr descr="image.png" id="113" name="Google Shape;113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45674" y="1924050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8729156" y="3019425"/>
            <a:ext cx="229028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The "Yield" Myth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470999" y="3657600"/>
            <a:ext cx="2806749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Dividend Scale Interest Rate (DSIR) is </a:t>
            </a:r>
            <a:r>
              <a:rPr b="0" i="1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not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the policy yield. It is just one component in a complex formula blending mortality, expenses, and taxes.</a:t>
            </a:r>
            <a:endParaRPr/>
          </a:p>
        </p:txBody>
      </p:sp>
      <p:pic>
        <p:nvPicPr>
          <p:cNvPr descr="image.png" id="116" name="Google Shape;116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146250" y="2124075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867400" y="21240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645699" y="212407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Participating Whole Life: The Mechanics</a:t>
            </a:r>
            <a:endParaRPr b="1"/>
          </a:p>
        </p:txBody>
      </p:sp>
      <p:sp>
        <p:nvSpPr>
          <p:cNvPr id="120" name="Google Shape;120;p15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81150"/>
            <a:ext cx="11049000" cy="470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571500" y="2263297"/>
            <a:ext cx="5418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Because Whole Life relies on growth to hit targets, matching a fixed liability forces a difficult choice: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650313" y="3119443"/>
            <a:ext cx="118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768533" y="3107675"/>
            <a:ext cx="52215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Option A: Shortfall Risk.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Set base coverage below the liability and hope dividends catch up. This leaves the estate under-insured for decades.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50313" y="4247328"/>
            <a:ext cx="118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768533" y="4235560"/>
            <a:ext cx="52215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Option B: Excess Cost.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Buy the full liability upfront. The policy continues to grow, forcing you to pay for "excess" coverage you don't need, diverting capital from your business.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Paid Up Dividends: </a:t>
            </a: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The Structural Trade-off</a:t>
            </a:r>
            <a:endParaRPr b="1"/>
          </a:p>
        </p:txBody>
      </p:sp>
      <p:sp>
        <p:nvSpPr>
          <p:cNvPr id="133" name="Google Shape;133;p16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8" name="Google Shape;13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762000"/>
            <a:ext cx="5200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Level Universal Life</a:t>
            </a:r>
            <a:endParaRPr b="1"/>
          </a:p>
        </p:txBody>
      </p:sp>
      <p:sp>
        <p:nvSpPr>
          <p:cNvPr id="141" name="Google Shape;141;p17"/>
          <p:cNvSpPr/>
          <p:nvPr/>
        </p:nvSpPr>
        <p:spPr>
          <a:xfrm>
            <a:off x="571500" y="1362075"/>
            <a:ext cx="4953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 txBox="1"/>
          <p:nvPr/>
        </p:nvSpPr>
        <p:spPr>
          <a:xfrm>
            <a:off x="571500" y="2085975"/>
            <a:ext cx="52006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Designed for Precision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571500" y="2559393"/>
            <a:ext cx="49530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Level Universal Life is structurally designed to match a fixed estate liability with a contractually fixed death benefit from inception.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571500" y="3922645"/>
            <a:ext cx="5200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Efficiency Over Growth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571500" y="44196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Unlike Whole Life, which uses returns to increase coverage, Level UL applies tax-free growth internally to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reduce future insurance costs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 This minimizes the corporate capital required to maintain the policy.</a:t>
            </a:r>
            <a:endParaRPr/>
          </a:p>
        </p:txBody>
      </p:sp>
      <p:pic>
        <p:nvPicPr>
          <p:cNvPr id="146" name="Google Shape;146;p17" title="plan-of-building-architectural-project-background-P2CGCM8.jpg"/>
          <p:cNvPicPr preferRelativeResize="0"/>
          <p:nvPr/>
        </p:nvPicPr>
        <p:blipFill rotWithShape="1">
          <a:blip r:embed="rId5">
            <a:alphaModFix/>
          </a:blip>
          <a:srcRect b="919" l="35859" r="-14223" t="-920"/>
          <a:stretch/>
        </p:blipFill>
        <p:spPr>
          <a:xfrm>
            <a:off x="6437275" y="-70625"/>
            <a:ext cx="8063299" cy="6928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1" name="Google Shape;1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66950"/>
            <a:ext cx="3492549" cy="4019550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r="8700000" dist="123825">
              <a:srgbClr val="000000">
                <a:alpha val="5000"/>
              </a:srgbClr>
            </a:outerShdw>
          </a:effectLst>
        </p:spPr>
      </p:pic>
      <p:pic>
        <p:nvPicPr>
          <p:cNvPr descr="image.png" id="153" name="Google Shape;15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266950"/>
            <a:ext cx="3492549" cy="4019550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r="8700000" dist="123825">
              <a:srgbClr val="000000">
                <a:alpha val="5000"/>
              </a:srgbClr>
            </a:outerShdw>
          </a:effectLst>
        </p:spPr>
      </p:pic>
      <p:pic>
        <p:nvPicPr>
          <p:cNvPr descr="image.png" id="154" name="Google Shape;15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266950"/>
            <a:ext cx="3492549" cy="4019550"/>
          </a:xfrm>
          <a:prstGeom prst="rect">
            <a:avLst/>
          </a:prstGeom>
          <a:noFill/>
          <a:ln>
            <a:noFill/>
          </a:ln>
          <a:effectLst>
            <a:outerShdw blurRad="414338" rotWithShape="0" algn="bl" dir="8700000" dist="123825">
              <a:srgbClr val="000000">
                <a:alpha val="5000"/>
              </a:srgbClr>
            </a:outerShdw>
          </a:effectLst>
        </p:spPr>
      </p:pic>
      <p:sp>
        <p:nvSpPr>
          <p:cNvPr id="155" name="Google Shape;155;p18"/>
          <p:cNvSpPr txBox="1"/>
          <p:nvPr/>
        </p:nvSpPr>
        <p:spPr>
          <a:xfrm>
            <a:off x="571500" y="1618050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We resolve the "GIC vs. Equity" dilemma using Institutional Smoothed-Yield Accounts.</a:t>
            </a:r>
            <a:endParaRPr/>
          </a:p>
        </p:txBody>
      </p:sp>
      <p:pic>
        <p:nvPicPr>
          <p:cNvPr descr="image.png" id="156" name="Google Shape;156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889075" y="2609850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1092547" y="3705225"/>
            <a:ext cx="245030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Capital Protection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914400" y="4343400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Features a 0% floor, guaranteeing that the credited rate will never be negative, protecting your downside.</a:t>
            </a:r>
            <a:endParaRPr/>
          </a:p>
        </p:txBody>
      </p:sp>
      <p:pic>
        <p:nvPicPr>
          <p:cNvPr descr="image.png" id="159" name="Google Shape;159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667375" y="2609850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 txBox="1"/>
          <p:nvPr/>
        </p:nvSpPr>
        <p:spPr>
          <a:xfrm>
            <a:off x="5530929" y="3705225"/>
            <a:ext cx="113014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Stability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4692699" y="4343400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Typically illustrates between 3.5% and 4.1%, trading with near-zero volatility (Std Dev ~0.2%) for predictable planning.</a:t>
            </a:r>
            <a:endParaRPr/>
          </a:p>
        </p:txBody>
      </p:sp>
      <p:pic>
        <p:nvPicPr>
          <p:cNvPr descr="image.png" id="162" name="Google Shape;162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45674" y="2609850"/>
            <a:ext cx="8572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8529131" y="3705225"/>
            <a:ext cx="269033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Institutional Access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8470999" y="4343400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Access the same asset pool as Whole Life: Private fixed income, commercial mortgages, and real estate.</a:t>
            </a:r>
            <a:endParaRPr/>
          </a:p>
        </p:txBody>
      </p:sp>
      <p:pic>
        <p:nvPicPr>
          <p:cNvPr descr="image.png" id="165" name="Google Shape;165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089100" y="28098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810250" y="28098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645699" y="280987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8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50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Funding</a:t>
            </a: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 Solution: Sun Life Diversified Account</a:t>
            </a:r>
            <a:endParaRPr b="1"/>
          </a:p>
        </p:txBody>
      </p:sp>
      <p:sp>
        <p:nvSpPr>
          <p:cNvPr id="169" name="Google Shape;169;p18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4" name="Google Shape;17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81150"/>
            <a:ext cx="5238750" cy="3971925"/>
          </a:xfrm>
          <a:prstGeom prst="rect">
            <a:avLst/>
          </a:prstGeom>
          <a:noFill/>
          <a:ln>
            <a:noFill/>
          </a:ln>
          <a:effectLst>
            <a:outerShdw blurRad="242888" rotWithShape="0" algn="bl" dir="8700000" dist="161925">
              <a:srgbClr val="000000">
                <a:alpha val="4000"/>
              </a:srgbClr>
            </a:outerShdw>
          </a:effectLst>
        </p:spPr>
      </p:pic>
      <p:pic>
        <p:nvPicPr>
          <p:cNvPr descr="image.png" id="176" name="Google Shape;17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581150"/>
            <a:ext cx="5238750" cy="3971925"/>
          </a:xfrm>
          <a:prstGeom prst="rect">
            <a:avLst/>
          </a:prstGeom>
          <a:noFill/>
          <a:ln>
            <a:noFill/>
          </a:ln>
          <a:effectLst>
            <a:outerShdw blurRad="242888" rotWithShape="0" algn="bl" dir="8700000" dist="161925">
              <a:srgbClr val="000000">
                <a:alpha val="4000"/>
              </a:srgbClr>
            </a:outerShdw>
          </a:effectLst>
        </p:spPr>
      </p:pic>
      <p:sp>
        <p:nvSpPr>
          <p:cNvPr id="177" name="Google Shape;177;p19"/>
          <p:cNvSpPr txBox="1"/>
          <p:nvPr/>
        </p:nvSpPr>
        <p:spPr>
          <a:xfrm>
            <a:off x="571500" y="583882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True efficiency is measured by what the shareholders keep, not the gross policy value.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1000125" y="2566987"/>
            <a:ext cx="465058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CDA Mechanics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1000125" y="3205162"/>
            <a:ext cx="442912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Capital Dividend Account (CDA) credit is generally the Death Benefit minus the Adjusted Cost Basis (ACB). A higher ACB (common in Whole Life) means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less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of the benefit is tax-free.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6810375" y="2566987"/>
            <a:ext cx="465058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5A059"/>
                </a:solidFill>
                <a:latin typeface="Domine SemiBold"/>
                <a:ea typeface="Domine SemiBold"/>
                <a:cs typeface="Domine SemiBold"/>
                <a:sym typeface="Domine SemiBold"/>
              </a:rPr>
              <a:t>Share Valuation (CSV)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810375" y="3205162"/>
            <a:ext cx="442912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On death, the policy's Cash Surrender Value (CSV) increases the value of corporate shares. This can trigger additional capital gains tax, reducing the net amount the estate actually receives.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Corporate Reality: Net-to-Estate</a:t>
            </a:r>
            <a:endParaRPr b="1"/>
          </a:p>
        </p:txBody>
      </p:sp>
      <p:sp>
        <p:nvSpPr>
          <p:cNvPr id="183" name="Google Shape;183;p19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0"/>
          <p:cNvSpPr/>
          <p:nvPr/>
        </p:nvSpPr>
        <p:spPr>
          <a:xfrm>
            <a:off x="474700" y="3495079"/>
            <a:ext cx="11049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0"/>
          <p:cNvSpPr txBox="1"/>
          <p:nvPr/>
        </p:nvSpPr>
        <p:spPr>
          <a:xfrm>
            <a:off x="521780" y="3980259"/>
            <a:ext cx="20882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Benchmark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571500" y="4342209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Define the specific required liability.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2786795" y="3980259"/>
            <a:ext cx="20882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Establish Cost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2836515" y="4342209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Solve for the UL premium to fully fund the liability.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051810" y="3980259"/>
            <a:ext cx="20882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Remove Bias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5101530" y="4342209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Apply that exact premium to the best-fit Whole Life policy.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7316825" y="3980259"/>
            <a:ext cx="20882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Tax Adjust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7366545" y="4342209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Account for CDA credits and CSV taxes (Net-to-Estate).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9581841" y="3980259"/>
            <a:ext cx="20882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Compare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9631560" y="4342209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Evaluate outcome at life expectancy (Age 85).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Methodology: A Fair Comparison</a:t>
            </a:r>
            <a:endParaRPr b="1"/>
          </a:p>
        </p:txBody>
      </p:sp>
      <p:sp>
        <p:nvSpPr>
          <p:cNvPr id="201" name="Google Shape;201;p20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2" name="Google Shape;20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7695" y="3276004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92710" y="3276004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57726" y="3276004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22741" y="3276004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387756" y="3276004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1"/>
          <p:cNvSpPr txBox="1"/>
          <p:nvPr/>
        </p:nvSpPr>
        <p:spPr>
          <a:xfrm>
            <a:off x="647700" y="266223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762000" y="2662237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Client: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55-year-old Male, Non-smoker.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647700" y="310991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1"/>
          <p:cNvSpPr txBox="1"/>
          <p:nvPr/>
        </p:nvSpPr>
        <p:spPr>
          <a:xfrm>
            <a:off x="762000" y="3109912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Objective: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$10,000,000 Net-to-Estate Liquidity.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647700" y="35575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1"/>
          <p:cNvSpPr txBox="1"/>
          <p:nvPr/>
        </p:nvSpPr>
        <p:spPr>
          <a:xfrm>
            <a:off x="762000" y="3557587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Funding: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10-Year Pay Schedule.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647700" y="400526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762000" y="4005262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Timeline: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Life Expectancy (Age 85).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647700" y="445293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762000" y="4452937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UL Assumption: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100% SLDA @ 3.95%.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647700" y="490061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762000" y="4900612"/>
            <a:ext cx="5048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WL Assumption: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Sun Par Protector @ 5.25% (-1% DSIR).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Case Study: The Parameters</a:t>
            </a:r>
            <a:endParaRPr b="1"/>
          </a:p>
        </p:txBody>
      </p:sp>
      <p:sp>
        <p:nvSpPr>
          <p:cNvPr id="225" name="Google Shape;225;p21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21" title="ARMFS 2026-02-13 at 11.58.49 AM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5150" y="1952101"/>
            <a:ext cx="5173524" cy="3507001"/>
          </a:xfrm>
          <a:prstGeom prst="rect">
            <a:avLst/>
          </a:prstGeom>
          <a:noFill/>
          <a:ln>
            <a:noFill/>
          </a:ln>
          <a:effectLst>
            <a:outerShdw blurRad="342900" rotWithShape="0" algn="bl" dir="8340000" dist="123825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1" name="Google Shape;231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81150"/>
            <a:ext cx="11049000" cy="470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2"/>
          <p:cNvSpPr txBox="1"/>
          <p:nvPr/>
        </p:nvSpPr>
        <p:spPr>
          <a:xfrm>
            <a:off x="571500" y="2357437"/>
            <a:ext cx="1104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With identical funding ($341,768/yr for 10 years), Universal Life meets the target. Whole Life falls significantly short due to structural inefficiency.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253037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Lato"/>
                <a:ea typeface="Lato"/>
                <a:cs typeface="Lato"/>
                <a:sym typeface="Lato"/>
              </a:rPr>
              <a:t>Shortfall: -$2,410,895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Results: Net-to-Estate at Age 85</a:t>
            </a:r>
            <a:endParaRPr b="1"/>
          </a:p>
        </p:txBody>
      </p:sp>
      <p:sp>
        <p:nvSpPr>
          <p:cNvPr id="236" name="Google Shape;236;p22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81150"/>
            <a:ext cx="11049000" cy="4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3"/>
          <p:cNvSpPr/>
          <p:nvPr/>
        </p:nvSpPr>
        <p:spPr>
          <a:xfrm>
            <a:off x="2190750" y="6334125"/>
            <a:ext cx="190500" cy="381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2476500" y="6248400"/>
            <a:ext cx="2267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Universal Life </a:t>
            </a:r>
            <a:r>
              <a:rPr lang="en-US" sz="1350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@ 3.95%</a:t>
            </a:r>
            <a:endParaRPr/>
          </a:p>
        </p:txBody>
      </p:sp>
      <p:sp>
        <p:nvSpPr>
          <p:cNvPr id="245" name="Google Shape;245;p23"/>
          <p:cNvSpPr/>
          <p:nvPr/>
        </p:nvSpPr>
        <p:spPr>
          <a:xfrm>
            <a:off x="5124450" y="6334125"/>
            <a:ext cx="1905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410200" y="6248400"/>
            <a:ext cx="2333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Whole Life </a:t>
            </a:r>
            <a:r>
              <a:rPr lang="en-US" sz="1350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@ 5.25%</a:t>
            </a:r>
            <a:endParaRPr/>
          </a:p>
        </p:txBody>
      </p:sp>
      <p:sp>
        <p:nvSpPr>
          <p:cNvPr id="247" name="Google Shape;247;p23"/>
          <p:cNvSpPr txBox="1"/>
          <p:nvPr/>
        </p:nvSpPr>
        <p:spPr>
          <a:xfrm>
            <a:off x="8410575" y="6248400"/>
            <a:ext cx="215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B365D"/>
                </a:solidFill>
                <a:latin typeface="Lato"/>
                <a:ea typeface="Lato"/>
                <a:cs typeface="Lato"/>
                <a:sym typeface="Lato"/>
              </a:rPr>
              <a:t>$10M Liability Target</a:t>
            </a:r>
            <a:endParaRPr/>
          </a:p>
        </p:txBody>
      </p:sp>
      <p:sp>
        <p:nvSpPr>
          <p:cNvPr id="248" name="Google Shape;248;p23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Lifetime Net-to-Estate Analysis</a:t>
            </a:r>
            <a:endParaRPr b="1"/>
          </a:p>
        </p:txBody>
      </p:sp>
      <p:sp>
        <p:nvSpPr>
          <p:cNvPr id="249" name="Google Shape;249;p23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4" name="Google Shape;25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2028825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4"/>
          <p:cNvSpPr txBox="1"/>
          <p:nvPr/>
        </p:nvSpPr>
        <p:spPr>
          <a:xfrm>
            <a:off x="571500" y="2091312"/>
            <a:ext cx="550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C5A059"/>
                </a:solidFill>
                <a:latin typeface="Domine"/>
                <a:ea typeface="Domine"/>
                <a:cs typeface="Domine"/>
                <a:sym typeface="Domine"/>
              </a:rPr>
              <a:t>Structure Matters</a:t>
            </a:r>
            <a:endParaRPr b="1" sz="1600">
              <a:latin typeface="Domine"/>
              <a:ea typeface="Domine"/>
              <a:cs typeface="Domine"/>
              <a:sym typeface="Domine"/>
            </a:endParaRPr>
          </a:p>
        </p:txBody>
      </p:sp>
      <p:sp>
        <p:nvSpPr>
          <p:cNvPr id="257" name="Google Shape;257;p24"/>
          <p:cNvSpPr txBox="1"/>
          <p:nvPr/>
        </p:nvSpPr>
        <p:spPr>
          <a:xfrm>
            <a:off x="571500" y="2700325"/>
            <a:ext cx="5724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Using identical premiums, Universal Life outperforms Whole Life not only at life expectancy but throughout the entire policy duration.</a:t>
            </a:r>
            <a:endParaRPr/>
          </a:p>
        </p:txBody>
      </p:sp>
      <p:sp>
        <p:nvSpPr>
          <p:cNvPr id="258" name="Google Shape;258;p24"/>
          <p:cNvSpPr txBox="1"/>
          <p:nvPr/>
        </p:nvSpPr>
        <p:spPr>
          <a:xfrm>
            <a:off x="571500" y="3687542"/>
            <a:ext cx="5724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Universal Life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locks in full liability coverage from inception and directs performance to lowering costs.</a:t>
            </a:r>
            <a:endParaRPr/>
          </a:p>
        </p:txBody>
      </p:sp>
      <p:sp>
        <p:nvSpPr>
          <p:cNvPr id="259" name="Google Shape;259;p24"/>
          <p:cNvSpPr txBox="1"/>
          <p:nvPr/>
        </p:nvSpPr>
        <p:spPr>
          <a:xfrm>
            <a:off x="571500" y="4605325"/>
            <a:ext cx="5948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Whole Life</a:t>
            </a:r>
            <a:r>
              <a:rPr b="0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starts with a coverage gap and never catches up, leaving the estate underinsured by over $2.4M at the critical moment.</a:t>
            </a:r>
            <a:endParaRPr/>
          </a:p>
        </p:txBody>
      </p:sp>
      <p:sp>
        <p:nvSpPr>
          <p:cNvPr id="260" name="Google Shape;260;p24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Conclusion</a:t>
            </a:r>
            <a:endParaRPr b="1"/>
          </a:p>
        </p:txBody>
      </p:sp>
      <p:sp>
        <p:nvSpPr>
          <p:cNvPr id="261" name="Google Shape;261;p24"/>
          <p:cNvSpPr/>
          <p:nvPr/>
        </p:nvSpPr>
        <p:spPr>
          <a:xfrm>
            <a:off x="571500" y="1171575"/>
            <a:ext cx="11049000" cy="28575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ake it clearer and ounchier" id="262" name="Google Shape;262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48825" y="1617937"/>
            <a:ext cx="3876401" cy="4739524"/>
          </a:xfrm>
          <a:prstGeom prst="rect">
            <a:avLst/>
          </a:prstGeom>
          <a:noFill/>
          <a:ln>
            <a:noFill/>
          </a:ln>
          <a:effectLst>
            <a:outerShdw blurRad="300038" rotWithShape="0" algn="bl" dir="8700000" dist="123825">
              <a:srgbClr val="000000">
                <a:alpha val="27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7" name="Google Shape;26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5"/>
          <p:cNvSpPr txBox="1"/>
          <p:nvPr/>
        </p:nvSpPr>
        <p:spPr>
          <a:xfrm>
            <a:off x="295200" y="1857217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1B365D"/>
                </a:solidFill>
                <a:latin typeface="Domine"/>
                <a:ea typeface="Domine"/>
                <a:cs typeface="Domine"/>
                <a:sym typeface="Domine"/>
              </a:rPr>
              <a:t>Questions?</a:t>
            </a:r>
            <a:endParaRPr b="1">
              <a:latin typeface="Domine"/>
              <a:ea typeface="Domine"/>
              <a:cs typeface="Domine"/>
              <a:sym typeface="Domine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571425" y="3009742"/>
            <a:ext cx="11049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David Kakon, Math Honours B.Sc.</a:t>
            </a:r>
            <a:endParaRPr/>
          </a:p>
        </p:txBody>
      </p:sp>
      <p:sp>
        <p:nvSpPr>
          <p:cNvPr id="270" name="Google Shape;270;p25"/>
          <p:cNvSpPr txBox="1"/>
          <p:nvPr/>
        </p:nvSpPr>
        <p:spPr>
          <a:xfrm>
            <a:off x="571425" y="3447631"/>
            <a:ext cx="11049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Armstrong Financial Services</a:t>
            </a:r>
            <a:endParaRPr/>
          </a:p>
        </p:txBody>
      </p:sp>
      <p:sp>
        <p:nvSpPr>
          <p:cNvPr id="271" name="Google Shape;271;p25"/>
          <p:cNvSpPr txBox="1"/>
          <p:nvPr/>
        </p:nvSpPr>
        <p:spPr>
          <a:xfrm>
            <a:off x="571425" y="3961153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David@ArmstrongLife.com | (833) 603-5500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