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Libre Franklin Light"/>
      <p:regular r:id="rId22"/>
      <p:bold r:id="rId23"/>
      <p:italic r:id="rId24"/>
      <p:boldItalic r:id="rId25"/>
    </p:embeddedFont>
    <p:embeddedFont>
      <p:font typeface="Domine SemiBold"/>
      <p:regular r:id="rId26"/>
      <p:bold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Domine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ibreFranklinLight-regular.fntdata"/><Relationship Id="rId21" Type="http://schemas.openxmlformats.org/officeDocument/2006/relationships/slide" Target="slides/slide16.xml"/><Relationship Id="rId24" Type="http://schemas.openxmlformats.org/officeDocument/2006/relationships/font" Target="fonts/LibreFranklinLight-italic.fntdata"/><Relationship Id="rId23" Type="http://schemas.openxmlformats.org/officeDocument/2006/relationships/font" Target="fonts/LibreFranklin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omineSemiBold-regular.fntdata"/><Relationship Id="rId25" Type="http://schemas.openxmlformats.org/officeDocument/2006/relationships/font" Target="fonts/LibreFranklinLight-boldItalic.fntdata"/><Relationship Id="rId28" Type="http://schemas.openxmlformats.org/officeDocument/2006/relationships/font" Target="fonts/Lato-regular.fntdata"/><Relationship Id="rId27" Type="http://schemas.openxmlformats.org/officeDocument/2006/relationships/font" Target="fonts/Domine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33" Type="http://schemas.openxmlformats.org/officeDocument/2006/relationships/font" Target="fonts/Domine-bold.fntdata"/><Relationship Id="rId10" Type="http://schemas.openxmlformats.org/officeDocument/2006/relationships/slide" Target="slides/slide5.xml"/><Relationship Id="rId32" Type="http://schemas.openxmlformats.org/officeDocument/2006/relationships/font" Target="fonts/Domin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7f7f1e72c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7f7f1e72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7f7f1e72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c7f7f1e72c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7f7f1e72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c7f7f1e72c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7f7f1e72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c7f7f1e72c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11" Type="http://schemas.openxmlformats.org/officeDocument/2006/relationships/image" Target="../media/image14.png"/><Relationship Id="rId10" Type="http://schemas.openxmlformats.org/officeDocument/2006/relationships/image" Target="../media/image2.png"/><Relationship Id="rId12" Type="http://schemas.openxmlformats.org/officeDocument/2006/relationships/image" Target="../media/image22.png"/><Relationship Id="rId9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3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11" Type="http://schemas.openxmlformats.org/officeDocument/2006/relationships/image" Target="../media/image25.png"/><Relationship Id="rId10" Type="http://schemas.openxmlformats.org/officeDocument/2006/relationships/image" Target="../media/image17.png"/><Relationship Id="rId12" Type="http://schemas.openxmlformats.org/officeDocument/2006/relationships/image" Target="../media/image28.png"/><Relationship Id="rId9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Relationship Id="rId8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3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429975" y="0"/>
            <a:ext cx="170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BS”D</a:t>
            </a:r>
            <a:endParaRPr sz="1800">
              <a:solidFill>
                <a:schemeClr val="lt1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5238750" cy="4705350"/>
          </a:xfrm>
          <a:prstGeom prst="rect">
            <a:avLst/>
          </a:prstGeom>
          <a:noFill/>
          <a:ln>
            <a:noFill/>
          </a:ln>
          <a:effectLst>
            <a:outerShdw blurRad="242888" rotWithShape="0" algn="bl" dir="8700000" dist="161925">
              <a:srgbClr val="000000">
                <a:alpha val="4000"/>
              </a:srgbClr>
            </a:outerShdw>
          </a:effectLst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81150"/>
            <a:ext cx="5238750" cy="4705350"/>
          </a:xfrm>
          <a:prstGeom prst="rect">
            <a:avLst/>
          </a:prstGeom>
          <a:noFill/>
          <a:ln>
            <a:noFill/>
          </a:ln>
          <a:effectLst>
            <a:outerShdw blurRad="242888" rotWithShape="0" algn="bl" dir="8700000" dist="161925">
              <a:srgbClr val="000000">
                <a:alpha val="4000"/>
              </a:srgbClr>
            </a:outerShdw>
          </a:effectLst>
        </p:spPr>
      </p:pic>
      <p:sp>
        <p:nvSpPr>
          <p:cNvPr id="93" name="Google Shape;93;p14"/>
          <p:cNvSpPr txBox="1"/>
          <p:nvPr/>
        </p:nvSpPr>
        <p:spPr>
          <a:xfrm>
            <a:off x="1000125" y="2933700"/>
            <a:ext cx="46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The Objective</a:t>
            </a:r>
            <a:endParaRPr b="1"/>
          </a:p>
        </p:txBody>
      </p:sp>
      <p:sp>
        <p:nvSpPr>
          <p:cNvPr id="94" name="Google Shape;94;p14"/>
          <p:cNvSpPr txBox="1"/>
          <p:nvPr/>
        </p:nvSpPr>
        <p:spPr>
          <a:xfrm>
            <a:off x="1000125" y="3571875"/>
            <a:ext cx="44291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 corporate owners, the primary role of permanent insurance is to fund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defined future tax liability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with tax-free liquidity at the precise moment it is crystallized.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810375" y="2781300"/>
            <a:ext cx="46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The Choice</a:t>
            </a:r>
            <a:endParaRPr b="1"/>
          </a:p>
        </p:txBody>
      </p:sp>
      <p:sp>
        <p:nvSpPr>
          <p:cNvPr id="96" name="Google Shape;96;p14"/>
          <p:cNvSpPr txBox="1"/>
          <p:nvPr/>
        </p:nvSpPr>
        <p:spPr>
          <a:xfrm>
            <a:off x="6810375" y="3419475"/>
            <a:ext cx="44291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When the goal is a specific liability amount, the choice between Participating Whole Life and Universal Life is not about "better" or "worse" products, but rather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structural decision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about efficiency, risk, and capital allocation.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Executive Summary</a:t>
            </a:r>
            <a:endParaRPr b="1"/>
          </a:p>
        </p:txBody>
      </p:sp>
      <p:sp>
        <p:nvSpPr>
          <p:cNvPr id="98" name="Google Shape;98;p14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3492549" cy="4705350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8700000" dist="123825">
              <a:srgbClr val="000000">
                <a:alpha val="5000"/>
              </a:srgbClr>
            </a:outerShdw>
          </a:effectLst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581150"/>
            <a:ext cx="3492549" cy="4705350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8700000" dist="123825">
              <a:srgbClr val="000000">
                <a:alpha val="5000"/>
              </a:srgbClr>
            </a:outerShdw>
          </a:effectLst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581150"/>
            <a:ext cx="3492549" cy="4705350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8700000" dist="123825">
              <a:srgbClr val="000000">
                <a:alpha val="5000"/>
              </a:srgbClr>
            </a:outerShdw>
          </a:effectLst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89075" y="19240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587609" y="3019425"/>
            <a:ext cx="146018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 SemiBold"/>
                <a:ea typeface="Domine SemiBold"/>
                <a:cs typeface="Domine SemiBold"/>
                <a:sym typeface="Domine SemiBold"/>
              </a:rPr>
              <a:t>Fixed Base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14400" y="3657600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Built around a fixed premium and a base death benefit. Any value beyond this relies entirely on non-guaranteed performance.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19240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4905851" y="3019425"/>
            <a:ext cx="238029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 SemiBold"/>
                <a:ea typeface="Domine SemiBold"/>
                <a:cs typeface="Domine SemiBold"/>
                <a:sym typeface="Domine SemiBold"/>
              </a:rPr>
              <a:t>Dividend Growth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92699" y="3657600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Dividends are used to purchase Paid-Up Additions (PUA). The death benefit growth is dependent on the insurer's dividend scale.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5674" y="19240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729156" y="3019425"/>
            <a:ext cx="229028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 SemiBold"/>
                <a:ea typeface="Domine SemiBold"/>
                <a:cs typeface="Domine SemiBold"/>
                <a:sym typeface="Domine SemiBold"/>
              </a:rPr>
              <a:t>The "Yield" Myth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70999" y="3657600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Dividend Scale Interest Rate (DSIR) is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policy yield. It is just one component in a complex formula blending mortality, expenses, and taxes.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46250" y="212407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67400" y="21240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45699" y="21240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Participating Whole Life: The Mechanics</a:t>
            </a:r>
            <a:endParaRPr b="1"/>
          </a:p>
        </p:txBody>
      </p:sp>
      <p:sp>
        <p:nvSpPr>
          <p:cNvPr id="120" name="Google Shape;120;p15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1104900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2263297"/>
            <a:ext cx="541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Because Whole Life relies on growth to hit targets, matching a fixed liability forces a difficult choice: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50313" y="3119443"/>
            <a:ext cx="11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8533" y="3107675"/>
            <a:ext cx="5221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Option A: Shortfall Risk.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Set base coverage below the liability and hope dividends catch up. This leaves the estate under-insured for decades.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50313" y="4247328"/>
            <a:ext cx="11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68533" y="4235560"/>
            <a:ext cx="5221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Option B: Excess Cost.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Buy the full liability upfront. The policy continues to grow, forcing you to pay for "excess" coverage you don't need, diverting capital from your business.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Paid Up Dividends: </a:t>
            </a: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The Structural Trade-off</a:t>
            </a:r>
            <a:endParaRPr b="1"/>
          </a:p>
        </p:txBody>
      </p:sp>
      <p:sp>
        <p:nvSpPr>
          <p:cNvPr id="133" name="Google Shape;133;p16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762000"/>
            <a:ext cx="5200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Level Universal Life</a:t>
            </a:r>
            <a:endParaRPr b="1"/>
          </a:p>
        </p:txBody>
      </p:sp>
      <p:sp>
        <p:nvSpPr>
          <p:cNvPr id="141" name="Google Shape;141;p17"/>
          <p:cNvSpPr/>
          <p:nvPr/>
        </p:nvSpPr>
        <p:spPr>
          <a:xfrm>
            <a:off x="571500" y="1362075"/>
            <a:ext cx="4953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085975"/>
            <a:ext cx="5200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 SemiBold"/>
                <a:ea typeface="Domine SemiBold"/>
                <a:cs typeface="Domine SemiBold"/>
                <a:sym typeface="Domine SemiBold"/>
              </a:rPr>
              <a:t>Designed for Precision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2559393"/>
            <a:ext cx="4953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Level Universal Life is structurally designed to match a fixed estate liability with a contractually fixed death benefit from inception.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3922645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 SemiBold"/>
                <a:ea typeface="Domine SemiBold"/>
                <a:cs typeface="Domine SemiBold"/>
                <a:sym typeface="Domine SemiBold"/>
              </a:rPr>
              <a:t>Efficiency Over Growth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44196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Unlike Whole Life, which uses returns to increase coverage, Level UL applies tax-free growth internally to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reduce future insurance costs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This minimizes the corporate capital required to maintain the policy.</a:t>
            </a:r>
            <a:endParaRPr/>
          </a:p>
        </p:txBody>
      </p:sp>
      <p:pic>
        <p:nvPicPr>
          <p:cNvPr id="146" name="Google Shape;146;p17" title="plan-of-building-architectural-project-background-P2CGCM8.jpg"/>
          <p:cNvPicPr preferRelativeResize="0"/>
          <p:nvPr/>
        </p:nvPicPr>
        <p:blipFill rotWithShape="1">
          <a:blip r:embed="rId5">
            <a:alphaModFix/>
          </a:blip>
          <a:srcRect b="919" l="35859" r="-14223" t="-920"/>
          <a:stretch/>
        </p:blipFill>
        <p:spPr>
          <a:xfrm>
            <a:off x="6437275" y="-70625"/>
            <a:ext cx="8063299" cy="692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3492549" cy="4019550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8700000" dist="123825">
              <a:srgbClr val="000000">
                <a:alpha val="5000"/>
              </a:srgbClr>
            </a:outerShdw>
          </a:effectLst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66950"/>
            <a:ext cx="3492549" cy="4019550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8700000" dist="123825">
              <a:srgbClr val="000000">
                <a:alpha val="5000"/>
              </a:srgbClr>
            </a:outerShdw>
          </a:effectLst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66950"/>
            <a:ext cx="3492549" cy="4019550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8700000" dist="123825">
              <a:srgbClr val="000000">
                <a:alpha val="5000"/>
              </a:srgbClr>
            </a:outerShdw>
          </a:effectLst>
        </p:spPr>
      </p:pic>
      <p:sp>
        <p:nvSpPr>
          <p:cNvPr id="155" name="Google Shape;155;p18"/>
          <p:cNvSpPr txBox="1"/>
          <p:nvPr/>
        </p:nvSpPr>
        <p:spPr>
          <a:xfrm>
            <a:off x="571500" y="161805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resolve the "GIC vs. Equity" dilemma using Institutional Smoothed-Yield Accounts.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89075" y="26098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1092547" y="3705225"/>
            <a:ext cx="245030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 SemiBold"/>
                <a:ea typeface="Domine SemiBold"/>
                <a:cs typeface="Domine SemiBold"/>
                <a:sym typeface="Domine SemiBold"/>
              </a:rPr>
              <a:t>Capital Protection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14400" y="4343400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Features a 0% floor, guaranteeing that the credited rate will never be negative, protecting your downside.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6098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530929" y="3705225"/>
            <a:ext cx="113014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 SemiBold"/>
                <a:ea typeface="Domine SemiBold"/>
                <a:cs typeface="Domine SemiBold"/>
                <a:sym typeface="Domine SemiBold"/>
              </a:rPr>
              <a:t>Stability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692699" y="4343400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Typically illustrates between 3.5% and 4.1%, trading with near-zero volatility (Std Dev ~0.2%) for predictable planning.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5674" y="26098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529131" y="3705225"/>
            <a:ext cx="26903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 SemiBold"/>
                <a:ea typeface="Domine SemiBold"/>
                <a:cs typeface="Domine SemiBold"/>
                <a:sym typeface="Domine SemiBold"/>
              </a:rPr>
              <a:t>Institutional Access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470999" y="4343400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Access the same asset pool as Whole Life: Private fixed income, commercial mortgages, and real estate.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89100" y="2809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0" y="28098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45699" y="28098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Funding</a:t>
            </a: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 Solution: Sun Life Diversified Account</a:t>
            </a:r>
            <a:endParaRPr b="1"/>
          </a:p>
        </p:txBody>
      </p:sp>
      <p:sp>
        <p:nvSpPr>
          <p:cNvPr id="169" name="Google Shape;169;p18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5238750" cy="3971925"/>
          </a:xfrm>
          <a:prstGeom prst="rect">
            <a:avLst/>
          </a:prstGeom>
          <a:noFill/>
          <a:ln>
            <a:noFill/>
          </a:ln>
          <a:effectLst>
            <a:outerShdw blurRad="242888" rotWithShape="0" algn="bl" dir="8700000" dist="161925">
              <a:srgbClr val="000000">
                <a:alpha val="4000"/>
              </a:srgbClr>
            </a:outerShdw>
          </a:effectLst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81150"/>
            <a:ext cx="5238750" cy="3971925"/>
          </a:xfrm>
          <a:prstGeom prst="rect">
            <a:avLst/>
          </a:prstGeom>
          <a:noFill/>
          <a:ln>
            <a:noFill/>
          </a:ln>
          <a:effectLst>
            <a:outerShdw blurRad="242888" rotWithShape="0" algn="bl" dir="8700000" dist="161925">
              <a:srgbClr val="000000">
                <a:alpha val="4000"/>
              </a:srgbClr>
            </a:outerShdw>
          </a:effectLst>
        </p:spPr>
      </p:pic>
      <p:sp>
        <p:nvSpPr>
          <p:cNvPr id="177" name="Google Shape;177;p19"/>
          <p:cNvSpPr txBox="1"/>
          <p:nvPr/>
        </p:nvSpPr>
        <p:spPr>
          <a:xfrm>
            <a:off x="571500" y="58388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True efficiency is measured by what the shareholders keep, not the gross policy value.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00125" y="2566987"/>
            <a:ext cx="465058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 SemiBold"/>
                <a:ea typeface="Domine SemiBold"/>
                <a:cs typeface="Domine SemiBold"/>
                <a:sym typeface="Domine SemiBold"/>
              </a:rPr>
              <a:t>CDA Mechanics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000125" y="3205162"/>
            <a:ext cx="44291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Capital Dividend Account (CDA) credit is generally the Death Benefit minus the Adjusted Cost Basis (ACB). A higher ACB (common in Whole Life) means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less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of the benefit is tax-free.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810375" y="2566987"/>
            <a:ext cx="465058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 SemiBold"/>
                <a:ea typeface="Domine SemiBold"/>
                <a:cs typeface="Domine SemiBold"/>
                <a:sym typeface="Domine SemiBold"/>
              </a:rPr>
              <a:t>Share Valuation (CSV)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810375" y="3205162"/>
            <a:ext cx="44291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 death, the policy's Cash Surrender Value (CSV) increases the value of corporate shares. This can trigger additional capital gains tax, reducing the net amount the estate actually receives.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Corporate Reality: Net-to-Estate</a:t>
            </a:r>
            <a:endParaRPr b="1"/>
          </a:p>
        </p:txBody>
      </p:sp>
      <p:sp>
        <p:nvSpPr>
          <p:cNvPr id="183" name="Google Shape;183;p19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/>
          <p:nvPr/>
        </p:nvSpPr>
        <p:spPr>
          <a:xfrm>
            <a:off x="474700" y="3495079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21780" y="3980259"/>
            <a:ext cx="2088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Benchmark</a:t>
            </a:r>
            <a:endParaRPr b="1"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4342209"/>
            <a:ext cx="198879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Define the specific required liability.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2786795" y="3980259"/>
            <a:ext cx="20882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Establish Cost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2836515" y="4342209"/>
            <a:ext cx="198879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Solve for the UL premium to fully fund the liability.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051810" y="3980259"/>
            <a:ext cx="20882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Remove Bias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101530" y="4342209"/>
            <a:ext cx="198879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Apply that exact premium to the best-fit Whole Life policy.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7316825" y="3980259"/>
            <a:ext cx="20882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Tax Adjust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7366545" y="4342209"/>
            <a:ext cx="198879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Account for CDA credits and CSV taxes (Net-to-Estate).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581841" y="3980259"/>
            <a:ext cx="20882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Compare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631560" y="4342209"/>
            <a:ext cx="198879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Evaluate outcome at life expectancy (Age 85).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Methodology: A Fair Comparison</a:t>
            </a:r>
            <a:endParaRPr b="1"/>
          </a:p>
        </p:txBody>
      </p:sp>
      <p:sp>
        <p:nvSpPr>
          <p:cNvPr id="201" name="Google Shape;201;p20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695" y="3276004"/>
            <a:ext cx="476250" cy="476250"/>
          </a:xfrm>
          <a:prstGeom prst="rect">
            <a:avLst/>
          </a:prstGeom>
          <a:noFill/>
          <a:ln>
            <a:noFill/>
          </a:ln>
          <a:effectLst>
            <a:outerShdw blurRad="385763" rotWithShape="0" algn="bl" dir="8700000" dist="161925">
              <a:srgbClr val="000000">
                <a:alpha val="20000"/>
              </a:srgbClr>
            </a:outerShdw>
          </a:effectLst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2710" y="3276004"/>
            <a:ext cx="476250" cy="476250"/>
          </a:xfrm>
          <a:prstGeom prst="rect">
            <a:avLst/>
          </a:prstGeom>
          <a:noFill/>
          <a:ln>
            <a:noFill/>
          </a:ln>
          <a:effectLst>
            <a:outerShdw blurRad="385763" rotWithShape="0" algn="bl" dir="8700000" dist="161925">
              <a:srgbClr val="000000">
                <a:alpha val="20000"/>
              </a:srgbClr>
            </a:outerShdw>
          </a:effectLst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726" y="3276004"/>
            <a:ext cx="476250" cy="476250"/>
          </a:xfrm>
          <a:prstGeom prst="rect">
            <a:avLst/>
          </a:prstGeom>
          <a:noFill/>
          <a:ln>
            <a:noFill/>
          </a:ln>
          <a:effectLst>
            <a:outerShdw blurRad="385763" rotWithShape="0" algn="bl" dir="8700000" dist="161925">
              <a:srgbClr val="000000">
                <a:alpha val="20000"/>
              </a:srgbClr>
            </a:outerShdw>
          </a:effectLst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2741" y="3276004"/>
            <a:ext cx="476250" cy="476250"/>
          </a:xfrm>
          <a:prstGeom prst="rect">
            <a:avLst/>
          </a:prstGeom>
          <a:noFill/>
          <a:ln>
            <a:noFill/>
          </a:ln>
          <a:effectLst>
            <a:outerShdw blurRad="385763" rotWithShape="0" algn="bl" dir="8700000" dist="161925">
              <a:srgbClr val="000000">
                <a:alpha val="20000"/>
              </a:srgbClr>
            </a:outerShdw>
          </a:effectLst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87756" y="3276004"/>
            <a:ext cx="476250" cy="476250"/>
          </a:xfrm>
          <a:prstGeom prst="rect">
            <a:avLst/>
          </a:prstGeom>
          <a:noFill/>
          <a:ln>
            <a:noFill/>
          </a:ln>
          <a:effectLst>
            <a:outerShdw blurRad="385763" rotWithShape="0" algn="bl" dir="8700000" dist="161925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647700" y="26622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62000" y="26622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55-year-old Male, Non-smoker.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47700" y="31099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762000" y="31099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Objective: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$10,000,000 Net-to-Estate Liquidity.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47700" y="35575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762000" y="35575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Funding: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10-Year Pay Schedule.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47700" y="40052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762000" y="40052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Timeline: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Life Expectancy (Age 85).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47700" y="44529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762000" y="44529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UL Assumption: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100% SLDA @ 3.95%.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47700" y="49006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62000" y="49006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WL Assumption: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Sun Par Protector @ 5.25% (-1% DSIR).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Case Study: The Parameters</a:t>
            </a:r>
            <a:endParaRPr b="1"/>
          </a:p>
        </p:txBody>
      </p:sp>
      <p:sp>
        <p:nvSpPr>
          <p:cNvPr id="225" name="Google Shape;225;p21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1" title="ARMFS 2026-02-13 at 11.58.49 AM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5150" y="1952101"/>
            <a:ext cx="5173524" cy="3507001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8340000" dist="123825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Case Study: </a:t>
            </a:r>
            <a:r>
              <a:rPr b="1" lang="en-US" sz="3150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Summary of Results</a:t>
            </a:r>
            <a:endParaRPr b="1"/>
          </a:p>
        </p:txBody>
      </p:sp>
      <p:sp>
        <p:nvSpPr>
          <p:cNvPr id="233" name="Google Shape;233;p22"/>
          <p:cNvSpPr/>
          <p:nvPr/>
        </p:nvSpPr>
        <p:spPr>
          <a:xfrm>
            <a:off x="571500" y="1171575"/>
            <a:ext cx="11049000" cy="28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655350" y="2729575"/>
            <a:ext cx="10881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first solve for a Universal Life design that provides level coverage from inception and for life, intended to precisely deliver the target Net-to-Estate outcome. The required annual premium derived from this becomes the fixed input for the comparison.</a:t>
            </a:r>
            <a:br>
              <a:rPr lang="en-US" sz="2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en-US" sz="2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results below reflect after-tax Net-to-Estate outcomes (accounting for CDA credits and taxes), rather than potentially misleading gross values. Both policies have identical premium inputs of ($341,768 × 10).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571500" y="1969125"/>
            <a:ext cx="1146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⇒ Net-to-Estate = CDA + [ (FV − CDA) × (1 − 48.70%) ] − [ CSV × 26.65%]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title="ARMFS 2026-02-13 at 1.54.43 P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43957"/>
            <a:ext cx="11049001" cy="414335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8700000" dist="19050">
              <a:srgbClr val="000000">
                <a:alpha val="10000"/>
              </a:srgbClr>
            </a:outerShdw>
          </a:effectLst>
        </p:spPr>
      </p:pic>
      <p:sp>
        <p:nvSpPr>
          <p:cNvPr id="241" name="Google Shape;241;p23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Case Study: </a:t>
            </a:r>
            <a:r>
              <a:rPr b="1" lang="en-US" sz="3150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Level Universal Life</a:t>
            </a:r>
            <a:endParaRPr b="1"/>
          </a:p>
        </p:txBody>
      </p:sp>
      <p:sp>
        <p:nvSpPr>
          <p:cNvPr id="242" name="Google Shape;242;p23"/>
          <p:cNvSpPr/>
          <p:nvPr/>
        </p:nvSpPr>
        <p:spPr>
          <a:xfrm>
            <a:off x="571500" y="1171575"/>
            <a:ext cx="11049000" cy="28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Case Study: </a:t>
            </a:r>
            <a:r>
              <a:rPr b="1" lang="en-US" sz="3150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Whole Life Par</a:t>
            </a:r>
            <a:endParaRPr b="1"/>
          </a:p>
        </p:txBody>
      </p:sp>
      <p:sp>
        <p:nvSpPr>
          <p:cNvPr id="248" name="Google Shape;248;p24"/>
          <p:cNvSpPr/>
          <p:nvPr/>
        </p:nvSpPr>
        <p:spPr>
          <a:xfrm>
            <a:off x="571500" y="1171575"/>
            <a:ext cx="11049000" cy="28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24" title="ARMFS 2026-02-13 at 1.54.50 P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720492"/>
            <a:ext cx="11049001" cy="4154158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8700000" dist="1905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1104900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571500" y="2357437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With identical funding ($341,768/yr for 10 years), Universal Life meets the target. Whole Life falls significantly short due to structural inefficiency.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571500" y="52530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Shortfall: -$2,410,895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Results: Net-to-Estate at Age 85</a:t>
            </a:r>
            <a:endParaRPr b="1"/>
          </a:p>
        </p:txBody>
      </p:sp>
      <p:sp>
        <p:nvSpPr>
          <p:cNvPr id="259" name="Google Shape;259;p25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11049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/>
          <p:nvPr/>
        </p:nvSpPr>
        <p:spPr>
          <a:xfrm>
            <a:off x="2190750" y="6334125"/>
            <a:ext cx="190500" cy="381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2476500" y="6248400"/>
            <a:ext cx="2267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Universal Life </a:t>
            </a:r>
            <a:r>
              <a:rPr lang="en-US" sz="1350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@ 3.95%</a:t>
            </a: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5124450" y="6334125"/>
            <a:ext cx="1905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5410200" y="6248400"/>
            <a:ext cx="2333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Whole Life </a:t>
            </a:r>
            <a:r>
              <a:rPr lang="en-US" sz="1350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@ 5.25%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8410575" y="6248400"/>
            <a:ext cx="21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$10M Liability Target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Lifetime Net-to-Estate Analysis</a:t>
            </a:r>
            <a:endParaRPr b="1"/>
          </a:p>
        </p:txBody>
      </p:sp>
      <p:sp>
        <p:nvSpPr>
          <p:cNvPr id="272" name="Google Shape;272;p26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88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 txBox="1"/>
          <p:nvPr/>
        </p:nvSpPr>
        <p:spPr>
          <a:xfrm>
            <a:off x="571500" y="2091312"/>
            <a:ext cx="550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Structure Matters</a:t>
            </a:r>
            <a:endParaRPr b="1" sz="16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571500" y="2700325"/>
            <a:ext cx="572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Using identical premiums, Universal Life outperforms Whole Life not only at life expectancy but throughout the entire policy duration.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571500" y="3687542"/>
            <a:ext cx="572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Universal Life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locks in full liability coverage from inception and directs performance to lowering costs.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571500" y="4605325"/>
            <a:ext cx="5948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Whole Life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starts with a coverage gap and never catches up, leaving the estate underinsured by over $2.4M at the critical moment.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Conclusion</a:t>
            </a:r>
            <a:endParaRPr b="1"/>
          </a:p>
        </p:txBody>
      </p:sp>
      <p:sp>
        <p:nvSpPr>
          <p:cNvPr id="284" name="Google Shape;284;p27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e it clearer and ounchier" id="285" name="Google Shape;28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8825" y="1617937"/>
            <a:ext cx="3876401" cy="4739524"/>
          </a:xfrm>
          <a:prstGeom prst="rect">
            <a:avLst/>
          </a:prstGeom>
          <a:noFill/>
          <a:ln>
            <a:noFill/>
          </a:ln>
          <a:effectLst>
            <a:outerShdw blurRad="300038" rotWithShape="0" algn="bl" dir="8700000" dist="123825">
              <a:srgbClr val="000000">
                <a:alpha val="27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8"/>
          <p:cNvSpPr txBox="1"/>
          <p:nvPr/>
        </p:nvSpPr>
        <p:spPr>
          <a:xfrm>
            <a:off x="295200" y="1857217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Questions?</a:t>
            </a:r>
            <a:endParaRPr b="1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571425" y="3009742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David Kakon, Math Honours B.Sc.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571425" y="3447631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Armstrong Financial Services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571425" y="3961153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David@ArmstrongLife.com | (833) 603-5500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